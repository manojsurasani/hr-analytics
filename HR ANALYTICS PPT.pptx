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  <p:sldMasterId id="2147483726" r:id="rId2"/>
  </p:sldMasterIdLst>
  <p:sldIdLst>
    <p:sldId id="256" r:id="rId3"/>
    <p:sldId id="258" r:id="rId4"/>
    <p:sldId id="263" r:id="rId5"/>
    <p:sldId id="266" r:id="rId6"/>
    <p:sldId id="265" r:id="rId7"/>
    <p:sldId id="273" r:id="rId8"/>
    <p:sldId id="272" r:id="rId9"/>
    <p:sldId id="274" r:id="rId10"/>
    <p:sldId id="275" r:id="rId11"/>
    <p:sldId id="276" r:id="rId12"/>
    <p:sldId id="277" r:id="rId13"/>
    <p:sldId id="270" r:id="rId14"/>
    <p:sldId id="271" r:id="rId15"/>
    <p:sldId id="268" r:id="rId16"/>
    <p:sldId id="278" r:id="rId17"/>
    <p:sldId id="279" r:id="rId18"/>
    <p:sldId id="281" r:id="rId19"/>
    <p:sldId id="280" r:id="rId20"/>
    <p:sldId id="285" r:id="rId21"/>
    <p:sldId id="282" r:id="rId22"/>
    <p:sldId id="26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33DB5F-D14A-4F7B-829D-E0350678EBAC}" type="doc">
      <dgm:prSet loTypeId="urn:microsoft.com/office/officeart/2005/8/layout/hProcess9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50DEEBBC-1133-468A-9CD1-1B945F86DB34}">
      <dgm:prSet custT="1"/>
      <dgm:spPr/>
      <dgm:t>
        <a:bodyPr/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prstClr val="white"/>
              </a:solidFill>
              <a:latin typeface="Garamond" panose="02020404030301010803"/>
              <a:ea typeface="+mn-ea"/>
              <a:cs typeface="+mn-cs"/>
            </a:rPr>
            <a:t>4. Narmadha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>
              <a:solidFill>
                <a:prstClr val="white"/>
              </a:solidFill>
              <a:latin typeface="Garamond" panose="02020404030301010803"/>
              <a:ea typeface="+mn-ea"/>
              <a:cs typeface="+mn-cs"/>
            </a:rPr>
            <a:t>Radhakrishnan</a:t>
          </a:r>
          <a:endParaRPr lang="en-IN" sz="2100" kern="1200" dirty="0">
            <a:solidFill>
              <a:prstClr val="white"/>
            </a:solidFill>
            <a:latin typeface="Garamond" panose="02020404030301010803"/>
            <a:ea typeface="+mn-ea"/>
            <a:cs typeface="+mn-cs"/>
          </a:endParaRPr>
        </a:p>
      </dgm:t>
    </dgm:pt>
    <dgm:pt modelId="{9B4540D6-D3DE-435A-98A3-F87635D53505}" type="parTrans" cxnId="{7AAAE89B-7D33-48FB-9345-4D5A017C8B2D}">
      <dgm:prSet/>
      <dgm:spPr/>
      <dgm:t>
        <a:bodyPr/>
        <a:lstStyle/>
        <a:p>
          <a:endParaRPr lang="en-IN"/>
        </a:p>
      </dgm:t>
    </dgm:pt>
    <dgm:pt modelId="{24C42D8F-D256-4055-B4BE-BF2B287A90A6}" type="sibTrans" cxnId="{7AAAE89B-7D33-48FB-9345-4D5A017C8B2D}">
      <dgm:prSet/>
      <dgm:spPr/>
      <dgm:t>
        <a:bodyPr/>
        <a:lstStyle/>
        <a:p>
          <a:endParaRPr lang="en-IN"/>
        </a:p>
      </dgm:t>
    </dgm:pt>
    <dgm:pt modelId="{5D153148-175E-423D-96B5-7E1BB424EA97}">
      <dgm:prSet custT="1"/>
      <dgm:spPr/>
      <dgm:t>
        <a:bodyPr/>
        <a:lstStyle/>
        <a:p>
          <a:r>
            <a:rPr lang="en-US" sz="2100" kern="1200" dirty="0">
              <a:solidFill>
                <a:prstClr val="white"/>
              </a:solidFill>
              <a:latin typeface="Garamond" panose="02020404030301010803"/>
              <a:ea typeface="+mn-ea"/>
              <a:cs typeface="+mn-cs"/>
            </a:rPr>
            <a:t>3. Manoj Kumar Reddy</a:t>
          </a:r>
          <a:endParaRPr lang="en-IN" sz="2100" kern="1200" dirty="0">
            <a:solidFill>
              <a:prstClr val="white"/>
            </a:solidFill>
            <a:latin typeface="Garamond" panose="02020404030301010803"/>
            <a:ea typeface="+mn-ea"/>
            <a:cs typeface="+mn-cs"/>
          </a:endParaRPr>
        </a:p>
      </dgm:t>
    </dgm:pt>
    <dgm:pt modelId="{83449578-594C-4FCC-BF6F-2E030FDF618D}" type="parTrans" cxnId="{DD9E2B1A-9645-4759-8335-C9BE06E64D8A}">
      <dgm:prSet/>
      <dgm:spPr/>
      <dgm:t>
        <a:bodyPr/>
        <a:lstStyle/>
        <a:p>
          <a:endParaRPr lang="en-IN"/>
        </a:p>
      </dgm:t>
    </dgm:pt>
    <dgm:pt modelId="{87732EF5-2CB6-42A3-AF07-729A66B6226A}" type="sibTrans" cxnId="{DD9E2B1A-9645-4759-8335-C9BE06E64D8A}">
      <dgm:prSet/>
      <dgm:spPr/>
      <dgm:t>
        <a:bodyPr/>
        <a:lstStyle/>
        <a:p>
          <a:endParaRPr lang="en-IN"/>
        </a:p>
      </dgm:t>
    </dgm:pt>
    <dgm:pt modelId="{490FB293-D377-4FA4-8E76-4A4034849AED}">
      <dgm:prSet/>
      <dgm:spPr/>
      <dgm:t>
        <a:bodyPr/>
        <a:lstStyle/>
        <a:p>
          <a:r>
            <a:rPr lang="en-US" dirty="0"/>
            <a:t>2. </a:t>
          </a:r>
          <a:r>
            <a:rPr lang="en-GB" dirty="0"/>
            <a:t>Asha A</a:t>
          </a:r>
          <a:endParaRPr lang="en-IN" dirty="0"/>
        </a:p>
      </dgm:t>
    </dgm:pt>
    <dgm:pt modelId="{162B1DFC-5C88-494D-9B4E-FB9C7083643D}" type="parTrans" cxnId="{14F2581C-E0D2-4272-9561-0CCAC8033715}">
      <dgm:prSet/>
      <dgm:spPr/>
      <dgm:t>
        <a:bodyPr/>
        <a:lstStyle/>
        <a:p>
          <a:endParaRPr lang="en-IN"/>
        </a:p>
      </dgm:t>
    </dgm:pt>
    <dgm:pt modelId="{32203497-34B7-463C-983F-9B5AD6EB6088}" type="sibTrans" cxnId="{14F2581C-E0D2-4272-9561-0CCAC8033715}">
      <dgm:prSet/>
      <dgm:spPr/>
      <dgm:t>
        <a:bodyPr/>
        <a:lstStyle/>
        <a:p>
          <a:endParaRPr lang="en-IN"/>
        </a:p>
      </dgm:t>
    </dgm:pt>
    <dgm:pt modelId="{55E3620B-D215-4C38-BFA7-D5EA040C7D86}">
      <dgm:prSet/>
      <dgm:spPr/>
      <dgm:t>
        <a:bodyPr/>
        <a:lstStyle/>
        <a:p>
          <a:r>
            <a:rPr lang="en-US" dirty="0"/>
            <a:t>6. Vaishali Badgujar</a:t>
          </a:r>
          <a:endParaRPr lang="en-IN" dirty="0"/>
        </a:p>
      </dgm:t>
    </dgm:pt>
    <dgm:pt modelId="{DECBE555-CE94-47D2-9BDA-2D95CFBD9FB5}" type="parTrans" cxnId="{518C9176-D344-44E2-A4C8-3B956F42CAB8}">
      <dgm:prSet/>
      <dgm:spPr/>
      <dgm:t>
        <a:bodyPr/>
        <a:lstStyle/>
        <a:p>
          <a:endParaRPr lang="en-IN"/>
        </a:p>
      </dgm:t>
    </dgm:pt>
    <dgm:pt modelId="{A2147EC6-04B2-45D7-A68B-D2D4221BECCE}" type="sibTrans" cxnId="{518C9176-D344-44E2-A4C8-3B956F42CAB8}">
      <dgm:prSet/>
      <dgm:spPr/>
      <dgm:t>
        <a:bodyPr/>
        <a:lstStyle/>
        <a:p>
          <a:endParaRPr lang="en-IN"/>
        </a:p>
      </dgm:t>
    </dgm:pt>
    <dgm:pt modelId="{E3292B8F-7B11-4DDE-B9B2-4051450CB695}">
      <dgm:prSet/>
      <dgm:spPr/>
      <dgm:t>
        <a:bodyPr/>
        <a:lstStyle/>
        <a:p>
          <a:r>
            <a:rPr lang="en-US" dirty="0"/>
            <a:t>1. Anjali Thombre</a:t>
          </a:r>
          <a:endParaRPr lang="en-IN" dirty="0"/>
        </a:p>
      </dgm:t>
    </dgm:pt>
    <dgm:pt modelId="{EA528AE7-26A8-4691-A39E-436D309B7F2C}" type="parTrans" cxnId="{0BBECF19-4ACC-429A-83DC-8FB966BFEF57}">
      <dgm:prSet/>
      <dgm:spPr/>
      <dgm:t>
        <a:bodyPr/>
        <a:lstStyle/>
        <a:p>
          <a:endParaRPr lang="en-IN"/>
        </a:p>
      </dgm:t>
    </dgm:pt>
    <dgm:pt modelId="{0F9A3B75-4002-4895-89BD-1620FFF80552}" type="sibTrans" cxnId="{0BBECF19-4ACC-429A-83DC-8FB966BFEF57}">
      <dgm:prSet/>
      <dgm:spPr/>
      <dgm:t>
        <a:bodyPr/>
        <a:lstStyle/>
        <a:p>
          <a:endParaRPr lang="en-IN"/>
        </a:p>
      </dgm:t>
    </dgm:pt>
    <dgm:pt modelId="{04559933-FF36-439B-B395-6AA385F5332C}">
      <dgm:prSet/>
      <dgm:spPr/>
      <dgm:t>
        <a:bodyPr/>
        <a:lstStyle/>
        <a:p>
          <a:r>
            <a:rPr lang="en-US" dirty="0"/>
            <a:t>5. Samrat Jha</a:t>
          </a:r>
          <a:endParaRPr lang="en-IN" dirty="0"/>
        </a:p>
      </dgm:t>
    </dgm:pt>
    <dgm:pt modelId="{DDC1D09E-104B-46EA-B506-5885314101E1}" type="parTrans" cxnId="{36DA1F84-7AEB-4A1E-89EB-B075E96C2EDE}">
      <dgm:prSet/>
      <dgm:spPr/>
      <dgm:t>
        <a:bodyPr/>
        <a:lstStyle/>
        <a:p>
          <a:endParaRPr lang="en-IN"/>
        </a:p>
      </dgm:t>
    </dgm:pt>
    <dgm:pt modelId="{EDDC21C4-B60C-46C8-8AB0-B74E20E07F05}" type="sibTrans" cxnId="{36DA1F84-7AEB-4A1E-89EB-B075E96C2EDE}">
      <dgm:prSet/>
      <dgm:spPr/>
      <dgm:t>
        <a:bodyPr/>
        <a:lstStyle/>
        <a:p>
          <a:endParaRPr lang="en-IN"/>
        </a:p>
      </dgm:t>
    </dgm:pt>
    <dgm:pt modelId="{D1E53C10-FE63-4448-92D8-6E3CA19D703A}" type="pres">
      <dgm:prSet presAssocID="{B133DB5F-D14A-4F7B-829D-E0350678EBAC}" presName="CompostProcess" presStyleCnt="0">
        <dgm:presLayoutVars>
          <dgm:dir/>
          <dgm:resizeHandles val="exact"/>
        </dgm:presLayoutVars>
      </dgm:prSet>
      <dgm:spPr/>
    </dgm:pt>
    <dgm:pt modelId="{AC18C0B7-6494-4FA9-9B65-D7AC99C2F65D}" type="pres">
      <dgm:prSet presAssocID="{B133DB5F-D14A-4F7B-829D-E0350678EBAC}" presName="arrow" presStyleLbl="bgShp" presStyleIdx="0" presStyleCnt="1"/>
      <dgm:spPr/>
    </dgm:pt>
    <dgm:pt modelId="{121D446D-AFF1-4B49-B006-2B7AE5ABDF04}" type="pres">
      <dgm:prSet presAssocID="{B133DB5F-D14A-4F7B-829D-E0350678EBAC}" presName="linearProcess" presStyleCnt="0"/>
      <dgm:spPr/>
    </dgm:pt>
    <dgm:pt modelId="{43812B68-0970-42F1-8278-D4FFBC16AEC1}" type="pres">
      <dgm:prSet presAssocID="{50DEEBBC-1133-468A-9CD1-1B945F86DB34}" presName="textNode" presStyleLbl="node1" presStyleIdx="0" presStyleCnt="6" custScaleX="110694" custLinFactX="300000" custLinFactNeighborX="316660" custLinFactNeighborY="-2757">
        <dgm:presLayoutVars>
          <dgm:bulletEnabled val="1"/>
        </dgm:presLayoutVars>
      </dgm:prSet>
      <dgm:spPr/>
    </dgm:pt>
    <dgm:pt modelId="{36015022-698C-452C-A8CA-B4D38C5C7C9F}" type="pres">
      <dgm:prSet presAssocID="{24C42D8F-D256-4055-B4BE-BF2B287A90A6}" presName="sibTrans" presStyleCnt="0"/>
      <dgm:spPr/>
    </dgm:pt>
    <dgm:pt modelId="{1671BB96-CDE1-418C-AD1E-59BFF431C4AE}" type="pres">
      <dgm:prSet presAssocID="{5D153148-175E-423D-96B5-7E1BB424EA97}" presName="textNode" presStyleLbl="node1" presStyleIdx="1" presStyleCnt="6" custLinFactX="85816" custLinFactNeighborX="100000" custLinFactNeighborY="-2757">
        <dgm:presLayoutVars>
          <dgm:bulletEnabled val="1"/>
        </dgm:presLayoutVars>
      </dgm:prSet>
      <dgm:spPr/>
    </dgm:pt>
    <dgm:pt modelId="{0EFD8485-5C78-4D7D-9536-EB51F71B3530}" type="pres">
      <dgm:prSet presAssocID="{87732EF5-2CB6-42A3-AF07-729A66B6226A}" presName="sibTrans" presStyleCnt="0"/>
      <dgm:spPr/>
    </dgm:pt>
    <dgm:pt modelId="{5C24725C-215E-47A7-8DE6-A4B6966F1772}" type="pres">
      <dgm:prSet presAssocID="{490FB293-D377-4FA4-8E76-4A4034849AED}" presName="textNode" presStyleLbl="node1" presStyleIdx="2" presStyleCnt="6" custLinFactX="-107747" custLinFactNeighborX="-200000" custLinFactNeighborY="-1858">
        <dgm:presLayoutVars>
          <dgm:bulletEnabled val="1"/>
        </dgm:presLayoutVars>
      </dgm:prSet>
      <dgm:spPr/>
    </dgm:pt>
    <dgm:pt modelId="{226D4373-571C-4BBD-8C6A-E1091B793228}" type="pres">
      <dgm:prSet presAssocID="{32203497-34B7-463C-983F-9B5AD6EB6088}" presName="sibTrans" presStyleCnt="0"/>
      <dgm:spPr/>
    </dgm:pt>
    <dgm:pt modelId="{9F0F0069-99B6-4836-A809-28D9800E8970}" type="pres">
      <dgm:prSet presAssocID="{55E3620B-D215-4C38-BFA7-D5EA040C7D86}" presName="textNode" presStyleLbl="node1" presStyleIdx="3" presStyleCnt="6" custLinFactX="200000" custLinFactNeighborX="242613" custLinFactNeighborY="-2757">
        <dgm:presLayoutVars>
          <dgm:bulletEnabled val="1"/>
        </dgm:presLayoutVars>
      </dgm:prSet>
      <dgm:spPr/>
    </dgm:pt>
    <dgm:pt modelId="{187981B5-E865-40D1-A4F0-EAEFA9419721}" type="pres">
      <dgm:prSet presAssocID="{A2147EC6-04B2-45D7-A68B-D2D4221BECCE}" presName="sibTrans" presStyleCnt="0"/>
      <dgm:spPr/>
    </dgm:pt>
    <dgm:pt modelId="{4F45116B-82BF-424A-B714-10BD138B50C3}" type="pres">
      <dgm:prSet presAssocID="{E3292B8F-7B11-4DDE-B9B2-4051450CB695}" presName="textNode" presStyleLbl="node1" presStyleIdx="4" presStyleCnt="6" custLinFactX="-411890" custLinFactNeighborX="-500000" custLinFactNeighborY="929">
        <dgm:presLayoutVars>
          <dgm:bulletEnabled val="1"/>
        </dgm:presLayoutVars>
      </dgm:prSet>
      <dgm:spPr/>
    </dgm:pt>
    <dgm:pt modelId="{5AB2DB88-D6F9-4B68-A3EF-A68D65017E55}" type="pres">
      <dgm:prSet presAssocID="{0F9A3B75-4002-4895-89BD-1620FFF80552}" presName="sibTrans" presStyleCnt="0"/>
      <dgm:spPr/>
    </dgm:pt>
    <dgm:pt modelId="{33BD9AAC-FC0B-41F4-BA5F-70918FED0C1C}" type="pres">
      <dgm:prSet presAssocID="{04559933-FF36-439B-B395-6AA385F5332C}" presName="textNode" presStyleLbl="node1" presStyleIdx="5" presStyleCnt="6" custLinFactX="-97361" custLinFactNeighborX="-100000" custLinFactNeighborY="-2757">
        <dgm:presLayoutVars>
          <dgm:bulletEnabled val="1"/>
        </dgm:presLayoutVars>
      </dgm:prSet>
      <dgm:spPr/>
    </dgm:pt>
  </dgm:ptLst>
  <dgm:cxnLst>
    <dgm:cxn modelId="{4EEC7C08-00C3-4EB6-BDF3-0F47A4B1D244}" type="presOf" srcId="{5D153148-175E-423D-96B5-7E1BB424EA97}" destId="{1671BB96-CDE1-418C-AD1E-59BFF431C4AE}" srcOrd="0" destOrd="0" presId="urn:microsoft.com/office/officeart/2005/8/layout/hProcess9"/>
    <dgm:cxn modelId="{0BBECF19-4ACC-429A-83DC-8FB966BFEF57}" srcId="{B133DB5F-D14A-4F7B-829D-E0350678EBAC}" destId="{E3292B8F-7B11-4DDE-B9B2-4051450CB695}" srcOrd="4" destOrd="0" parTransId="{EA528AE7-26A8-4691-A39E-436D309B7F2C}" sibTransId="{0F9A3B75-4002-4895-89BD-1620FFF80552}"/>
    <dgm:cxn modelId="{DD9E2B1A-9645-4759-8335-C9BE06E64D8A}" srcId="{B133DB5F-D14A-4F7B-829D-E0350678EBAC}" destId="{5D153148-175E-423D-96B5-7E1BB424EA97}" srcOrd="1" destOrd="0" parTransId="{83449578-594C-4FCC-BF6F-2E030FDF618D}" sibTransId="{87732EF5-2CB6-42A3-AF07-729A66B6226A}"/>
    <dgm:cxn modelId="{14F2581C-E0D2-4272-9561-0CCAC8033715}" srcId="{B133DB5F-D14A-4F7B-829D-E0350678EBAC}" destId="{490FB293-D377-4FA4-8E76-4A4034849AED}" srcOrd="2" destOrd="0" parTransId="{162B1DFC-5C88-494D-9B4E-FB9C7083643D}" sibTransId="{32203497-34B7-463C-983F-9B5AD6EB6088}"/>
    <dgm:cxn modelId="{A3E29D54-556F-4777-B59E-CC859539D640}" type="presOf" srcId="{E3292B8F-7B11-4DDE-B9B2-4051450CB695}" destId="{4F45116B-82BF-424A-B714-10BD138B50C3}" srcOrd="0" destOrd="0" presId="urn:microsoft.com/office/officeart/2005/8/layout/hProcess9"/>
    <dgm:cxn modelId="{518C9176-D344-44E2-A4C8-3B956F42CAB8}" srcId="{B133DB5F-D14A-4F7B-829D-E0350678EBAC}" destId="{55E3620B-D215-4C38-BFA7-D5EA040C7D86}" srcOrd="3" destOrd="0" parTransId="{DECBE555-CE94-47D2-9BDA-2D95CFBD9FB5}" sibTransId="{A2147EC6-04B2-45D7-A68B-D2D4221BECCE}"/>
    <dgm:cxn modelId="{73D8E379-325E-4896-A9E1-4F3F9DFB88C1}" type="presOf" srcId="{04559933-FF36-439B-B395-6AA385F5332C}" destId="{33BD9AAC-FC0B-41F4-BA5F-70918FED0C1C}" srcOrd="0" destOrd="0" presId="urn:microsoft.com/office/officeart/2005/8/layout/hProcess9"/>
    <dgm:cxn modelId="{D784E57C-D5BC-48EB-9CE7-2BE0ABD03507}" type="presOf" srcId="{B133DB5F-D14A-4F7B-829D-E0350678EBAC}" destId="{D1E53C10-FE63-4448-92D8-6E3CA19D703A}" srcOrd="0" destOrd="0" presId="urn:microsoft.com/office/officeart/2005/8/layout/hProcess9"/>
    <dgm:cxn modelId="{36DA1F84-7AEB-4A1E-89EB-B075E96C2EDE}" srcId="{B133DB5F-D14A-4F7B-829D-E0350678EBAC}" destId="{04559933-FF36-439B-B395-6AA385F5332C}" srcOrd="5" destOrd="0" parTransId="{DDC1D09E-104B-46EA-B506-5885314101E1}" sibTransId="{EDDC21C4-B60C-46C8-8AB0-B74E20E07F05}"/>
    <dgm:cxn modelId="{7AAAE89B-7D33-48FB-9345-4D5A017C8B2D}" srcId="{B133DB5F-D14A-4F7B-829D-E0350678EBAC}" destId="{50DEEBBC-1133-468A-9CD1-1B945F86DB34}" srcOrd="0" destOrd="0" parTransId="{9B4540D6-D3DE-435A-98A3-F87635D53505}" sibTransId="{24C42D8F-D256-4055-B4BE-BF2B287A90A6}"/>
    <dgm:cxn modelId="{024F61A2-56BE-434B-9E69-FCE6D4324674}" type="presOf" srcId="{55E3620B-D215-4C38-BFA7-D5EA040C7D86}" destId="{9F0F0069-99B6-4836-A809-28D9800E8970}" srcOrd="0" destOrd="0" presId="urn:microsoft.com/office/officeart/2005/8/layout/hProcess9"/>
    <dgm:cxn modelId="{31BA4EC2-CD3D-45F6-A50B-A09A8A72DF66}" type="presOf" srcId="{490FB293-D377-4FA4-8E76-4A4034849AED}" destId="{5C24725C-215E-47A7-8DE6-A4B6966F1772}" srcOrd="0" destOrd="0" presId="urn:microsoft.com/office/officeart/2005/8/layout/hProcess9"/>
    <dgm:cxn modelId="{E251C6D2-CDC5-46FD-9445-42EF2CFDD50D}" type="presOf" srcId="{50DEEBBC-1133-468A-9CD1-1B945F86DB34}" destId="{43812B68-0970-42F1-8278-D4FFBC16AEC1}" srcOrd="0" destOrd="0" presId="urn:microsoft.com/office/officeart/2005/8/layout/hProcess9"/>
    <dgm:cxn modelId="{E920C3CE-7260-4645-A16B-CE5870A11174}" type="presParOf" srcId="{D1E53C10-FE63-4448-92D8-6E3CA19D703A}" destId="{AC18C0B7-6494-4FA9-9B65-D7AC99C2F65D}" srcOrd="0" destOrd="0" presId="urn:microsoft.com/office/officeart/2005/8/layout/hProcess9"/>
    <dgm:cxn modelId="{BFD5FB33-5AC3-4656-A2D1-76052EF4B1A1}" type="presParOf" srcId="{D1E53C10-FE63-4448-92D8-6E3CA19D703A}" destId="{121D446D-AFF1-4B49-B006-2B7AE5ABDF04}" srcOrd="1" destOrd="0" presId="urn:microsoft.com/office/officeart/2005/8/layout/hProcess9"/>
    <dgm:cxn modelId="{D1460D34-4A76-4B71-851F-455ECD31BD10}" type="presParOf" srcId="{121D446D-AFF1-4B49-B006-2B7AE5ABDF04}" destId="{43812B68-0970-42F1-8278-D4FFBC16AEC1}" srcOrd="0" destOrd="0" presId="urn:microsoft.com/office/officeart/2005/8/layout/hProcess9"/>
    <dgm:cxn modelId="{D190DE0E-BEDB-4EA1-8BFB-8B14FB460219}" type="presParOf" srcId="{121D446D-AFF1-4B49-B006-2B7AE5ABDF04}" destId="{36015022-698C-452C-A8CA-B4D38C5C7C9F}" srcOrd="1" destOrd="0" presId="urn:microsoft.com/office/officeart/2005/8/layout/hProcess9"/>
    <dgm:cxn modelId="{BF87640F-7BEC-415D-98F1-C363C2B0E885}" type="presParOf" srcId="{121D446D-AFF1-4B49-B006-2B7AE5ABDF04}" destId="{1671BB96-CDE1-418C-AD1E-59BFF431C4AE}" srcOrd="2" destOrd="0" presId="urn:microsoft.com/office/officeart/2005/8/layout/hProcess9"/>
    <dgm:cxn modelId="{D14D416F-D18C-4284-9E53-F937FDC19DFC}" type="presParOf" srcId="{121D446D-AFF1-4B49-B006-2B7AE5ABDF04}" destId="{0EFD8485-5C78-4D7D-9536-EB51F71B3530}" srcOrd="3" destOrd="0" presId="urn:microsoft.com/office/officeart/2005/8/layout/hProcess9"/>
    <dgm:cxn modelId="{0E4EECA0-D9EC-4666-A1E3-477E372A8EAA}" type="presParOf" srcId="{121D446D-AFF1-4B49-B006-2B7AE5ABDF04}" destId="{5C24725C-215E-47A7-8DE6-A4B6966F1772}" srcOrd="4" destOrd="0" presId="urn:microsoft.com/office/officeart/2005/8/layout/hProcess9"/>
    <dgm:cxn modelId="{B2DCA781-F1AA-47A7-BADA-D94EC2B05902}" type="presParOf" srcId="{121D446D-AFF1-4B49-B006-2B7AE5ABDF04}" destId="{226D4373-571C-4BBD-8C6A-E1091B793228}" srcOrd="5" destOrd="0" presId="urn:microsoft.com/office/officeart/2005/8/layout/hProcess9"/>
    <dgm:cxn modelId="{EDABD3A4-D5EF-46C7-834C-CEE27500768E}" type="presParOf" srcId="{121D446D-AFF1-4B49-B006-2B7AE5ABDF04}" destId="{9F0F0069-99B6-4836-A809-28D9800E8970}" srcOrd="6" destOrd="0" presId="urn:microsoft.com/office/officeart/2005/8/layout/hProcess9"/>
    <dgm:cxn modelId="{B92922CC-6D1E-4491-BCD9-ACF52EB2B920}" type="presParOf" srcId="{121D446D-AFF1-4B49-B006-2B7AE5ABDF04}" destId="{187981B5-E865-40D1-A4F0-EAEFA9419721}" srcOrd="7" destOrd="0" presId="urn:microsoft.com/office/officeart/2005/8/layout/hProcess9"/>
    <dgm:cxn modelId="{B407EDE3-8B2D-46DC-882D-2D9888BF220E}" type="presParOf" srcId="{121D446D-AFF1-4B49-B006-2B7AE5ABDF04}" destId="{4F45116B-82BF-424A-B714-10BD138B50C3}" srcOrd="8" destOrd="0" presId="urn:microsoft.com/office/officeart/2005/8/layout/hProcess9"/>
    <dgm:cxn modelId="{977B1930-A2BA-4A5E-A4FF-87ADAAC9528B}" type="presParOf" srcId="{121D446D-AFF1-4B49-B006-2B7AE5ABDF04}" destId="{5AB2DB88-D6F9-4B68-A3EF-A68D65017E55}" srcOrd="9" destOrd="0" presId="urn:microsoft.com/office/officeart/2005/8/layout/hProcess9"/>
    <dgm:cxn modelId="{D8894B4F-C00A-4069-B65E-E76E04809D3E}" type="presParOf" srcId="{121D446D-AFF1-4B49-B006-2B7AE5ABDF04}" destId="{33BD9AAC-FC0B-41F4-BA5F-70918FED0C1C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BBD19A-78B9-4941-AF85-28154B1C4ED1}" type="doc">
      <dgm:prSet loTypeId="urn:microsoft.com/office/officeart/2005/8/layout/vList2" loCatId="list" qsTypeId="urn:microsoft.com/office/officeart/2005/8/quickstyle/3d2" qsCatId="3D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0A758A00-1003-4B10-BD6A-CFAC50A9215B}">
      <dgm:prSet/>
      <dgm:spPr/>
      <dgm:t>
        <a:bodyPr/>
        <a:lstStyle/>
        <a:p>
          <a:r>
            <a:rPr lang="en-GB" b="1" dirty="0"/>
            <a:t>KPI-1 Average Attrition Rate For All Departments</a:t>
          </a:r>
          <a:endParaRPr lang="en-IN" b="1" dirty="0"/>
        </a:p>
      </dgm:t>
    </dgm:pt>
    <dgm:pt modelId="{4D4084A4-E206-4E26-A60E-3E99920FE04B}" type="parTrans" cxnId="{AAD623EC-B92A-4ECC-93D3-366713886CE1}">
      <dgm:prSet/>
      <dgm:spPr/>
      <dgm:t>
        <a:bodyPr/>
        <a:lstStyle/>
        <a:p>
          <a:endParaRPr lang="en-IN"/>
        </a:p>
      </dgm:t>
    </dgm:pt>
    <dgm:pt modelId="{3A7E2847-5603-4630-9C82-D325F911DCF5}" type="sibTrans" cxnId="{AAD623EC-B92A-4ECC-93D3-366713886CE1}">
      <dgm:prSet/>
      <dgm:spPr/>
      <dgm:t>
        <a:bodyPr/>
        <a:lstStyle/>
        <a:p>
          <a:endParaRPr lang="en-IN"/>
        </a:p>
      </dgm:t>
    </dgm:pt>
    <dgm:pt modelId="{DBC2DFCC-C027-4258-8517-95BF21A1EE54}">
      <dgm:prSet/>
      <dgm:spPr/>
      <dgm:t>
        <a:bodyPr/>
        <a:lstStyle/>
        <a:p>
          <a:r>
            <a:rPr lang="en-GB" b="1" dirty="0"/>
            <a:t>KPI-2  Average Hourly Rate For Male Research Scientist</a:t>
          </a:r>
          <a:endParaRPr lang="en-IN" b="1" dirty="0"/>
        </a:p>
      </dgm:t>
    </dgm:pt>
    <dgm:pt modelId="{3FC5D341-8B26-4DC6-A90D-9C0132C9CD97}" type="parTrans" cxnId="{90436D9E-5B6D-434B-B303-834B76AD4649}">
      <dgm:prSet/>
      <dgm:spPr/>
      <dgm:t>
        <a:bodyPr/>
        <a:lstStyle/>
        <a:p>
          <a:endParaRPr lang="en-IN"/>
        </a:p>
      </dgm:t>
    </dgm:pt>
    <dgm:pt modelId="{DCC56B29-0FD1-49AF-9F2A-8C5FE217F81F}" type="sibTrans" cxnId="{90436D9E-5B6D-434B-B303-834B76AD4649}">
      <dgm:prSet/>
      <dgm:spPr/>
      <dgm:t>
        <a:bodyPr/>
        <a:lstStyle/>
        <a:p>
          <a:endParaRPr lang="en-IN"/>
        </a:p>
      </dgm:t>
    </dgm:pt>
    <dgm:pt modelId="{C33B742D-4631-43F0-9474-4F3858307218}">
      <dgm:prSet/>
      <dgm:spPr/>
      <dgm:t>
        <a:bodyPr/>
        <a:lstStyle/>
        <a:p>
          <a:r>
            <a:rPr lang="en-GB" b="1" dirty="0"/>
            <a:t>KPI-3  Attrition Rate Vs Monthly Income Status</a:t>
          </a:r>
          <a:endParaRPr lang="en-IN" b="1" dirty="0"/>
        </a:p>
      </dgm:t>
    </dgm:pt>
    <dgm:pt modelId="{D90BCA33-62B7-49BD-90EB-49A47EBF9070}" type="parTrans" cxnId="{99108F2B-B157-493E-8AC0-1D8507061B3A}">
      <dgm:prSet/>
      <dgm:spPr/>
      <dgm:t>
        <a:bodyPr/>
        <a:lstStyle/>
        <a:p>
          <a:endParaRPr lang="en-IN"/>
        </a:p>
      </dgm:t>
    </dgm:pt>
    <dgm:pt modelId="{CB570457-8117-4EEF-9966-B2752190A70B}" type="sibTrans" cxnId="{99108F2B-B157-493E-8AC0-1D8507061B3A}">
      <dgm:prSet/>
      <dgm:spPr/>
      <dgm:t>
        <a:bodyPr/>
        <a:lstStyle/>
        <a:p>
          <a:endParaRPr lang="en-IN"/>
        </a:p>
      </dgm:t>
    </dgm:pt>
    <dgm:pt modelId="{B7D526ED-C59A-468A-A109-27F76BA0BA35}">
      <dgm:prSet/>
      <dgm:spPr/>
      <dgm:t>
        <a:bodyPr/>
        <a:lstStyle/>
        <a:p>
          <a:r>
            <a:rPr lang="en-GB" b="1" dirty="0"/>
            <a:t>KPI-4  Average Working Years For Each Department</a:t>
          </a:r>
          <a:endParaRPr lang="en-IN" b="1" dirty="0"/>
        </a:p>
      </dgm:t>
    </dgm:pt>
    <dgm:pt modelId="{29F16EC3-82F2-4110-9C62-58085F057490}" type="parTrans" cxnId="{2E885789-6946-446C-B591-7C6FFEFBF161}">
      <dgm:prSet/>
      <dgm:spPr/>
      <dgm:t>
        <a:bodyPr/>
        <a:lstStyle/>
        <a:p>
          <a:endParaRPr lang="en-IN"/>
        </a:p>
      </dgm:t>
    </dgm:pt>
    <dgm:pt modelId="{45245540-DE9E-4A90-B02E-47960941E262}" type="sibTrans" cxnId="{2E885789-6946-446C-B591-7C6FFEFBF161}">
      <dgm:prSet/>
      <dgm:spPr/>
      <dgm:t>
        <a:bodyPr/>
        <a:lstStyle/>
        <a:p>
          <a:endParaRPr lang="en-IN"/>
        </a:p>
      </dgm:t>
    </dgm:pt>
    <dgm:pt modelId="{2DE03869-E025-42AB-B55C-7306BC15612B}">
      <dgm:prSet/>
      <dgm:spPr/>
      <dgm:t>
        <a:bodyPr/>
        <a:lstStyle/>
        <a:p>
          <a:r>
            <a:rPr lang="en-GB" b="1" dirty="0"/>
            <a:t>KPI-5  Job Role Vs Work Life Balance</a:t>
          </a:r>
          <a:endParaRPr lang="en-IN" b="1" dirty="0"/>
        </a:p>
      </dgm:t>
    </dgm:pt>
    <dgm:pt modelId="{7BD79C85-003F-4D9C-BDEF-046D60B295FE}" type="parTrans" cxnId="{6FDAC482-3F83-4DCA-BED4-8C5F5AA31803}">
      <dgm:prSet/>
      <dgm:spPr/>
      <dgm:t>
        <a:bodyPr/>
        <a:lstStyle/>
        <a:p>
          <a:endParaRPr lang="en-IN"/>
        </a:p>
      </dgm:t>
    </dgm:pt>
    <dgm:pt modelId="{2A46A9EE-C649-49C1-A161-60F36D518895}" type="sibTrans" cxnId="{6FDAC482-3F83-4DCA-BED4-8C5F5AA31803}">
      <dgm:prSet/>
      <dgm:spPr/>
      <dgm:t>
        <a:bodyPr/>
        <a:lstStyle/>
        <a:p>
          <a:endParaRPr lang="en-IN"/>
        </a:p>
      </dgm:t>
    </dgm:pt>
    <dgm:pt modelId="{16D07A52-761D-4599-A880-A456CF4F037A}">
      <dgm:prSet/>
      <dgm:spPr/>
      <dgm:t>
        <a:bodyPr/>
        <a:lstStyle/>
        <a:p>
          <a:r>
            <a:rPr lang="en-GB" b="1" dirty="0"/>
            <a:t>KPI-6 Attrition Rate Vs Year since last Promotion Relation</a:t>
          </a:r>
          <a:endParaRPr lang="en-IN" b="1" dirty="0"/>
        </a:p>
      </dgm:t>
    </dgm:pt>
    <dgm:pt modelId="{ACBF750C-8E14-404F-AE52-0DC4EA6D4F6D}" type="parTrans" cxnId="{7F221FC2-2C01-4043-84FB-ABDC8427B0CB}">
      <dgm:prSet/>
      <dgm:spPr/>
      <dgm:t>
        <a:bodyPr/>
        <a:lstStyle/>
        <a:p>
          <a:endParaRPr lang="en-IN"/>
        </a:p>
      </dgm:t>
    </dgm:pt>
    <dgm:pt modelId="{7689A5D0-02E1-4AED-A9BD-4253AD7ED608}" type="sibTrans" cxnId="{7F221FC2-2C01-4043-84FB-ABDC8427B0CB}">
      <dgm:prSet/>
      <dgm:spPr/>
      <dgm:t>
        <a:bodyPr/>
        <a:lstStyle/>
        <a:p>
          <a:endParaRPr lang="en-IN"/>
        </a:p>
      </dgm:t>
    </dgm:pt>
    <dgm:pt modelId="{AD7E3F26-1E08-46B2-AEFC-BFE56226A54E}">
      <dgm:prSet/>
      <dgm:spPr/>
      <dgm:t>
        <a:bodyPr/>
        <a:lstStyle/>
        <a:p>
          <a:r>
            <a:rPr lang="en-GB" b="1" dirty="0"/>
            <a:t>KPI-7 Total Attrition by Employee Education</a:t>
          </a:r>
          <a:endParaRPr lang="en-IN" b="1" dirty="0"/>
        </a:p>
      </dgm:t>
    </dgm:pt>
    <dgm:pt modelId="{E83E28EE-AEB3-4CC4-BB72-A61AEF9025F5}" type="parTrans" cxnId="{951B50A4-0734-4A1C-BB2E-DE901F2EB7A7}">
      <dgm:prSet/>
      <dgm:spPr/>
      <dgm:t>
        <a:bodyPr/>
        <a:lstStyle/>
        <a:p>
          <a:endParaRPr lang="en-IN"/>
        </a:p>
      </dgm:t>
    </dgm:pt>
    <dgm:pt modelId="{8411C80E-2391-4CF8-A6A0-FF514D2D7EFA}" type="sibTrans" cxnId="{951B50A4-0734-4A1C-BB2E-DE901F2EB7A7}">
      <dgm:prSet/>
      <dgm:spPr/>
      <dgm:t>
        <a:bodyPr/>
        <a:lstStyle/>
        <a:p>
          <a:endParaRPr lang="en-IN"/>
        </a:p>
      </dgm:t>
    </dgm:pt>
    <dgm:pt modelId="{02D7AD3E-9B75-48A0-BE57-EAA02CCEBC0A}">
      <dgm:prSet/>
      <dgm:spPr/>
      <dgm:t>
        <a:bodyPr/>
        <a:lstStyle/>
        <a:p>
          <a:r>
            <a:rPr lang="en-GB" b="1" dirty="0"/>
            <a:t>KPI-8  Marital Status and Monthly Income Vs Attrition Rate</a:t>
          </a:r>
          <a:endParaRPr lang="en-IN" b="1" dirty="0"/>
        </a:p>
      </dgm:t>
    </dgm:pt>
    <dgm:pt modelId="{9654AB4E-7311-4643-BE0C-2FABEA3F2167}" type="parTrans" cxnId="{7F8B541F-88A8-4F86-8780-67D3CAAC3EFF}">
      <dgm:prSet/>
      <dgm:spPr/>
      <dgm:t>
        <a:bodyPr/>
        <a:lstStyle/>
        <a:p>
          <a:endParaRPr lang="en-IN"/>
        </a:p>
      </dgm:t>
    </dgm:pt>
    <dgm:pt modelId="{5B204A73-AF2D-4F4F-8090-F6E6E8277553}" type="sibTrans" cxnId="{7F8B541F-88A8-4F86-8780-67D3CAAC3EFF}">
      <dgm:prSet/>
      <dgm:spPr/>
      <dgm:t>
        <a:bodyPr/>
        <a:lstStyle/>
        <a:p>
          <a:endParaRPr lang="en-IN"/>
        </a:p>
      </dgm:t>
    </dgm:pt>
    <dgm:pt modelId="{5405E651-F1C8-4939-BDEB-7765BED84C15}">
      <dgm:prSet/>
      <dgm:spPr/>
      <dgm:t>
        <a:bodyPr/>
        <a:lstStyle/>
        <a:p>
          <a:r>
            <a:rPr lang="en-GB" b="1" dirty="0"/>
            <a:t>Dashboard Insights :-</a:t>
          </a:r>
          <a:endParaRPr lang="en-IN" b="1" dirty="0"/>
        </a:p>
      </dgm:t>
    </dgm:pt>
    <dgm:pt modelId="{1072CA88-C608-475D-8C08-2894177052FA}" type="parTrans" cxnId="{AF64074D-D8E2-4849-9954-D6D663C56824}">
      <dgm:prSet/>
      <dgm:spPr/>
      <dgm:t>
        <a:bodyPr/>
        <a:lstStyle/>
        <a:p>
          <a:endParaRPr lang="en-IN"/>
        </a:p>
      </dgm:t>
    </dgm:pt>
    <dgm:pt modelId="{0FC41C58-38F1-4A90-8A3A-E5968BC6C1B5}" type="sibTrans" cxnId="{AF64074D-D8E2-4849-9954-D6D663C56824}">
      <dgm:prSet/>
      <dgm:spPr/>
      <dgm:t>
        <a:bodyPr/>
        <a:lstStyle/>
        <a:p>
          <a:endParaRPr lang="en-IN"/>
        </a:p>
      </dgm:t>
    </dgm:pt>
    <dgm:pt modelId="{CECC724E-8224-4048-AFF8-80AE4344980A}">
      <dgm:prSet/>
      <dgm:spPr/>
      <dgm:t>
        <a:bodyPr/>
        <a:lstStyle/>
        <a:p>
          <a:r>
            <a:rPr lang="en-GB" dirty="0"/>
            <a:t>                                 </a:t>
          </a:r>
          <a:r>
            <a:rPr lang="en-GB" b="1" dirty="0"/>
            <a:t>Excel</a:t>
          </a:r>
          <a:endParaRPr lang="en-IN" b="1" dirty="0"/>
        </a:p>
      </dgm:t>
    </dgm:pt>
    <dgm:pt modelId="{E5FD3D76-F65C-4155-8A93-A3F645674E67}" type="parTrans" cxnId="{C3D16A2E-36E7-4BD2-8C69-C38CF4DE6446}">
      <dgm:prSet/>
      <dgm:spPr/>
      <dgm:t>
        <a:bodyPr/>
        <a:lstStyle/>
        <a:p>
          <a:endParaRPr lang="en-IN"/>
        </a:p>
      </dgm:t>
    </dgm:pt>
    <dgm:pt modelId="{19581E12-DF21-4C57-9C69-9AD32114070F}" type="sibTrans" cxnId="{C3D16A2E-36E7-4BD2-8C69-C38CF4DE6446}">
      <dgm:prSet/>
      <dgm:spPr/>
      <dgm:t>
        <a:bodyPr/>
        <a:lstStyle/>
        <a:p>
          <a:endParaRPr lang="en-IN"/>
        </a:p>
      </dgm:t>
    </dgm:pt>
    <dgm:pt modelId="{5A1B482F-8EF2-4159-B7EF-92128643EFB8}">
      <dgm:prSet/>
      <dgm:spPr/>
      <dgm:t>
        <a:bodyPr/>
        <a:lstStyle/>
        <a:p>
          <a:r>
            <a:rPr lang="en-GB" dirty="0"/>
            <a:t>                                 </a:t>
          </a:r>
          <a:r>
            <a:rPr lang="en-GB" b="1" dirty="0"/>
            <a:t>Power BI  </a:t>
          </a:r>
          <a:endParaRPr lang="en-IN" b="1" dirty="0"/>
        </a:p>
      </dgm:t>
    </dgm:pt>
    <dgm:pt modelId="{C8C65883-34C0-4718-A927-2485A006681F}" type="parTrans" cxnId="{25CA32AC-AF06-432E-B024-E8EBB7C642A6}">
      <dgm:prSet/>
      <dgm:spPr/>
      <dgm:t>
        <a:bodyPr/>
        <a:lstStyle/>
        <a:p>
          <a:endParaRPr lang="en-IN"/>
        </a:p>
      </dgm:t>
    </dgm:pt>
    <dgm:pt modelId="{B2276547-8EF3-438F-A23F-F0175EE80437}" type="sibTrans" cxnId="{25CA32AC-AF06-432E-B024-E8EBB7C642A6}">
      <dgm:prSet/>
      <dgm:spPr/>
      <dgm:t>
        <a:bodyPr/>
        <a:lstStyle/>
        <a:p>
          <a:endParaRPr lang="en-IN"/>
        </a:p>
      </dgm:t>
    </dgm:pt>
    <dgm:pt modelId="{FEF974F9-1239-457A-BFC2-B7FCF3670818}">
      <dgm:prSet/>
      <dgm:spPr/>
      <dgm:t>
        <a:bodyPr/>
        <a:lstStyle/>
        <a:p>
          <a:r>
            <a:rPr lang="en-GB" dirty="0"/>
            <a:t>                                 </a:t>
          </a:r>
          <a:r>
            <a:rPr lang="en-GB" b="1" dirty="0"/>
            <a:t>Tableau</a:t>
          </a:r>
          <a:endParaRPr lang="en-IN" b="1" dirty="0"/>
        </a:p>
      </dgm:t>
    </dgm:pt>
    <dgm:pt modelId="{AFB02D35-8C72-4887-8674-76BAEDE2AD7A}" type="parTrans" cxnId="{43702AE8-923D-4C9C-802D-F26B26075F37}">
      <dgm:prSet/>
      <dgm:spPr/>
      <dgm:t>
        <a:bodyPr/>
        <a:lstStyle/>
        <a:p>
          <a:endParaRPr lang="en-IN"/>
        </a:p>
      </dgm:t>
    </dgm:pt>
    <dgm:pt modelId="{ACFABEA0-3113-44E7-81D2-E5E6D7BEC705}" type="sibTrans" cxnId="{43702AE8-923D-4C9C-802D-F26B26075F37}">
      <dgm:prSet/>
      <dgm:spPr/>
      <dgm:t>
        <a:bodyPr/>
        <a:lstStyle/>
        <a:p>
          <a:endParaRPr lang="en-IN"/>
        </a:p>
      </dgm:t>
    </dgm:pt>
    <dgm:pt modelId="{9AE87A7E-5A2E-44D4-A93F-31B0ECBF3C45}">
      <dgm:prSet/>
      <dgm:spPr/>
      <dgm:t>
        <a:bodyPr/>
        <a:lstStyle/>
        <a:p>
          <a:r>
            <a:rPr lang="en-GB" dirty="0"/>
            <a:t>                                 </a:t>
          </a:r>
          <a:r>
            <a:rPr lang="en-GB" b="1" dirty="0"/>
            <a:t>SQL Queries</a:t>
          </a:r>
          <a:endParaRPr lang="en-IN" b="1" dirty="0"/>
        </a:p>
      </dgm:t>
    </dgm:pt>
    <dgm:pt modelId="{EB8C3A9D-3A21-46DC-BD61-A4298875A363}" type="parTrans" cxnId="{B045FFB1-C020-47FF-90D5-05385A2B2D33}">
      <dgm:prSet/>
      <dgm:spPr/>
      <dgm:t>
        <a:bodyPr/>
        <a:lstStyle/>
        <a:p>
          <a:endParaRPr lang="en-IN"/>
        </a:p>
      </dgm:t>
    </dgm:pt>
    <dgm:pt modelId="{7DE69C2C-E43B-4394-9D40-CA0478B5DDCD}" type="sibTrans" cxnId="{B045FFB1-C020-47FF-90D5-05385A2B2D33}">
      <dgm:prSet/>
      <dgm:spPr/>
      <dgm:t>
        <a:bodyPr/>
        <a:lstStyle/>
        <a:p>
          <a:endParaRPr lang="en-IN"/>
        </a:p>
      </dgm:t>
    </dgm:pt>
    <dgm:pt modelId="{670BF6D4-4027-48C3-BC82-8BF966272E8E}">
      <dgm:prSet/>
      <dgm:spPr/>
      <dgm:t>
        <a:bodyPr/>
        <a:lstStyle/>
        <a:p>
          <a:r>
            <a:rPr lang="en-GB" b="1" dirty="0"/>
            <a:t>Internship Challenges &amp; Solutions</a:t>
          </a:r>
          <a:endParaRPr lang="en-IN" b="1" dirty="0"/>
        </a:p>
      </dgm:t>
    </dgm:pt>
    <dgm:pt modelId="{B6748342-1F17-447D-9078-2CAE5CE1B4C4}" type="parTrans" cxnId="{2CB9566D-6D90-448C-8953-311482170C92}">
      <dgm:prSet/>
      <dgm:spPr/>
      <dgm:t>
        <a:bodyPr/>
        <a:lstStyle/>
        <a:p>
          <a:endParaRPr lang="en-IN"/>
        </a:p>
      </dgm:t>
    </dgm:pt>
    <dgm:pt modelId="{2FE5711E-A5E3-4AC4-9603-8CD51D7F38ED}" type="sibTrans" cxnId="{2CB9566D-6D90-448C-8953-311482170C92}">
      <dgm:prSet/>
      <dgm:spPr/>
      <dgm:t>
        <a:bodyPr/>
        <a:lstStyle/>
        <a:p>
          <a:endParaRPr lang="en-IN"/>
        </a:p>
      </dgm:t>
    </dgm:pt>
    <dgm:pt modelId="{10986012-0C16-4D67-B371-5B467924ED6E}">
      <dgm:prSet/>
      <dgm:spPr/>
      <dgm:t>
        <a:bodyPr/>
        <a:lstStyle/>
        <a:p>
          <a:r>
            <a:rPr lang="en-GB" b="1" dirty="0"/>
            <a:t>Conclusion</a:t>
          </a:r>
          <a:endParaRPr lang="en-IN" b="1" dirty="0"/>
        </a:p>
      </dgm:t>
    </dgm:pt>
    <dgm:pt modelId="{FFD55C76-D953-4E1C-9971-7E9625D04086}" type="parTrans" cxnId="{1280854E-F593-45F0-8B35-CBEA8ABCD3D3}">
      <dgm:prSet/>
      <dgm:spPr/>
      <dgm:t>
        <a:bodyPr/>
        <a:lstStyle/>
        <a:p>
          <a:endParaRPr lang="en-IN"/>
        </a:p>
      </dgm:t>
    </dgm:pt>
    <dgm:pt modelId="{21723E92-FA8B-4665-BABB-27AF8AE2A5CF}" type="sibTrans" cxnId="{1280854E-F593-45F0-8B35-CBEA8ABCD3D3}">
      <dgm:prSet/>
      <dgm:spPr/>
      <dgm:t>
        <a:bodyPr/>
        <a:lstStyle/>
        <a:p>
          <a:endParaRPr lang="en-IN"/>
        </a:p>
      </dgm:t>
    </dgm:pt>
    <dgm:pt modelId="{5EE3F161-9C80-4727-A2CD-24314E43A17A}" type="pres">
      <dgm:prSet presAssocID="{28BBD19A-78B9-4941-AF85-28154B1C4ED1}" presName="linear" presStyleCnt="0">
        <dgm:presLayoutVars>
          <dgm:animLvl val="lvl"/>
          <dgm:resizeHandles val="exact"/>
        </dgm:presLayoutVars>
      </dgm:prSet>
      <dgm:spPr/>
    </dgm:pt>
    <dgm:pt modelId="{09E677F8-66E0-4EB0-9DFE-1E2921CD0E20}" type="pres">
      <dgm:prSet presAssocID="{0A758A00-1003-4B10-BD6A-CFAC50A9215B}" presName="parentText" presStyleLbl="node1" presStyleIdx="0" presStyleCnt="15" custLinFactNeighborX="-60" custLinFactNeighborY="-98604">
        <dgm:presLayoutVars>
          <dgm:chMax val="0"/>
          <dgm:bulletEnabled val="1"/>
        </dgm:presLayoutVars>
      </dgm:prSet>
      <dgm:spPr/>
    </dgm:pt>
    <dgm:pt modelId="{FB51DB35-9EED-4CE8-B2E0-8B516C7CFC13}" type="pres">
      <dgm:prSet presAssocID="{3A7E2847-5603-4630-9C82-D325F911DCF5}" presName="spacer" presStyleCnt="0"/>
      <dgm:spPr/>
    </dgm:pt>
    <dgm:pt modelId="{5CD812B9-46EE-4234-9F0D-191D18F09BAD}" type="pres">
      <dgm:prSet presAssocID="{DBC2DFCC-C027-4258-8517-95BF21A1EE54}" presName="parentText" presStyleLbl="node1" presStyleIdx="1" presStyleCnt="15">
        <dgm:presLayoutVars>
          <dgm:chMax val="0"/>
          <dgm:bulletEnabled val="1"/>
        </dgm:presLayoutVars>
      </dgm:prSet>
      <dgm:spPr/>
    </dgm:pt>
    <dgm:pt modelId="{7EF04205-14DF-42B8-A07E-FBF9B5AA5272}" type="pres">
      <dgm:prSet presAssocID="{DCC56B29-0FD1-49AF-9F2A-8C5FE217F81F}" presName="spacer" presStyleCnt="0"/>
      <dgm:spPr/>
    </dgm:pt>
    <dgm:pt modelId="{8F36031F-240D-4964-AD79-C02E9DFAD93D}" type="pres">
      <dgm:prSet presAssocID="{C33B742D-4631-43F0-9474-4F3858307218}" presName="parentText" presStyleLbl="node1" presStyleIdx="2" presStyleCnt="15">
        <dgm:presLayoutVars>
          <dgm:chMax val="0"/>
          <dgm:bulletEnabled val="1"/>
        </dgm:presLayoutVars>
      </dgm:prSet>
      <dgm:spPr/>
    </dgm:pt>
    <dgm:pt modelId="{378E1185-9C85-47C1-A731-0CA55ACA59DE}" type="pres">
      <dgm:prSet presAssocID="{CB570457-8117-4EEF-9966-B2752190A70B}" presName="spacer" presStyleCnt="0"/>
      <dgm:spPr/>
    </dgm:pt>
    <dgm:pt modelId="{95B3C87F-8DCB-4737-8E4F-9D68CA60F3C4}" type="pres">
      <dgm:prSet presAssocID="{B7D526ED-C59A-468A-A109-27F76BA0BA35}" presName="parentText" presStyleLbl="node1" presStyleIdx="3" presStyleCnt="15">
        <dgm:presLayoutVars>
          <dgm:chMax val="0"/>
          <dgm:bulletEnabled val="1"/>
        </dgm:presLayoutVars>
      </dgm:prSet>
      <dgm:spPr/>
    </dgm:pt>
    <dgm:pt modelId="{CD689ED4-7BE4-483A-A787-A079C81C0A81}" type="pres">
      <dgm:prSet presAssocID="{45245540-DE9E-4A90-B02E-47960941E262}" presName="spacer" presStyleCnt="0"/>
      <dgm:spPr/>
    </dgm:pt>
    <dgm:pt modelId="{82D8F433-F333-4D29-8C2B-A923BFFEE6BD}" type="pres">
      <dgm:prSet presAssocID="{2DE03869-E025-42AB-B55C-7306BC15612B}" presName="parentText" presStyleLbl="node1" presStyleIdx="4" presStyleCnt="15">
        <dgm:presLayoutVars>
          <dgm:chMax val="0"/>
          <dgm:bulletEnabled val="1"/>
        </dgm:presLayoutVars>
      </dgm:prSet>
      <dgm:spPr/>
    </dgm:pt>
    <dgm:pt modelId="{2E458518-272B-468C-8E09-A1CBC1E6D31F}" type="pres">
      <dgm:prSet presAssocID="{2A46A9EE-C649-49C1-A161-60F36D518895}" presName="spacer" presStyleCnt="0"/>
      <dgm:spPr/>
    </dgm:pt>
    <dgm:pt modelId="{9054E69E-0B1F-4E8D-BC3C-4A63EB493E5E}" type="pres">
      <dgm:prSet presAssocID="{16D07A52-761D-4599-A880-A456CF4F037A}" presName="parentText" presStyleLbl="node1" presStyleIdx="5" presStyleCnt="15">
        <dgm:presLayoutVars>
          <dgm:chMax val="0"/>
          <dgm:bulletEnabled val="1"/>
        </dgm:presLayoutVars>
      </dgm:prSet>
      <dgm:spPr/>
    </dgm:pt>
    <dgm:pt modelId="{1284DE6C-F95E-4BA2-92D2-F77CD3292D6A}" type="pres">
      <dgm:prSet presAssocID="{7689A5D0-02E1-4AED-A9BD-4253AD7ED608}" presName="spacer" presStyleCnt="0"/>
      <dgm:spPr/>
    </dgm:pt>
    <dgm:pt modelId="{574A2EDF-5064-41F0-BDC9-3FB2E2C75242}" type="pres">
      <dgm:prSet presAssocID="{AD7E3F26-1E08-46B2-AEFC-BFE56226A54E}" presName="parentText" presStyleLbl="node1" presStyleIdx="6" presStyleCnt="15">
        <dgm:presLayoutVars>
          <dgm:chMax val="0"/>
          <dgm:bulletEnabled val="1"/>
        </dgm:presLayoutVars>
      </dgm:prSet>
      <dgm:spPr/>
    </dgm:pt>
    <dgm:pt modelId="{377C0D7E-CE22-4895-B132-6AF7E6F2E1AC}" type="pres">
      <dgm:prSet presAssocID="{8411C80E-2391-4CF8-A6A0-FF514D2D7EFA}" presName="spacer" presStyleCnt="0"/>
      <dgm:spPr/>
    </dgm:pt>
    <dgm:pt modelId="{44C6F217-2E6C-4AC1-AF3B-BAA5C4AB6ADC}" type="pres">
      <dgm:prSet presAssocID="{02D7AD3E-9B75-48A0-BE57-EAA02CCEBC0A}" presName="parentText" presStyleLbl="node1" presStyleIdx="7" presStyleCnt="15">
        <dgm:presLayoutVars>
          <dgm:chMax val="0"/>
          <dgm:bulletEnabled val="1"/>
        </dgm:presLayoutVars>
      </dgm:prSet>
      <dgm:spPr/>
    </dgm:pt>
    <dgm:pt modelId="{88195683-20ED-4CD9-BC13-856C3BB5595C}" type="pres">
      <dgm:prSet presAssocID="{5B204A73-AF2D-4F4F-8090-F6E6E8277553}" presName="spacer" presStyleCnt="0"/>
      <dgm:spPr/>
    </dgm:pt>
    <dgm:pt modelId="{EBEEE6E7-3AE8-4753-96A4-3C37B073FDDD}" type="pres">
      <dgm:prSet presAssocID="{5405E651-F1C8-4939-BDEB-7765BED84C15}" presName="parentText" presStyleLbl="node1" presStyleIdx="8" presStyleCnt="15">
        <dgm:presLayoutVars>
          <dgm:chMax val="0"/>
          <dgm:bulletEnabled val="1"/>
        </dgm:presLayoutVars>
      </dgm:prSet>
      <dgm:spPr/>
    </dgm:pt>
    <dgm:pt modelId="{23C3C26C-349C-480C-BC1A-AFA3932C8E8B}" type="pres">
      <dgm:prSet presAssocID="{0FC41C58-38F1-4A90-8A3A-E5968BC6C1B5}" presName="spacer" presStyleCnt="0"/>
      <dgm:spPr/>
    </dgm:pt>
    <dgm:pt modelId="{03C3431C-5555-4F7C-A5D8-F7EBC1C93326}" type="pres">
      <dgm:prSet presAssocID="{CECC724E-8224-4048-AFF8-80AE4344980A}" presName="parentText" presStyleLbl="node1" presStyleIdx="9" presStyleCnt="15">
        <dgm:presLayoutVars>
          <dgm:chMax val="0"/>
          <dgm:bulletEnabled val="1"/>
        </dgm:presLayoutVars>
      </dgm:prSet>
      <dgm:spPr/>
    </dgm:pt>
    <dgm:pt modelId="{C0F60493-B790-4546-B425-CEF6565CF97E}" type="pres">
      <dgm:prSet presAssocID="{19581E12-DF21-4C57-9C69-9AD32114070F}" presName="spacer" presStyleCnt="0"/>
      <dgm:spPr/>
    </dgm:pt>
    <dgm:pt modelId="{F411A2F0-E44D-4C7A-8BBF-AC76CE3E42BB}" type="pres">
      <dgm:prSet presAssocID="{5A1B482F-8EF2-4159-B7EF-92128643EFB8}" presName="parentText" presStyleLbl="node1" presStyleIdx="10" presStyleCnt="15">
        <dgm:presLayoutVars>
          <dgm:chMax val="0"/>
          <dgm:bulletEnabled val="1"/>
        </dgm:presLayoutVars>
      </dgm:prSet>
      <dgm:spPr/>
    </dgm:pt>
    <dgm:pt modelId="{8D23EB8E-3847-47A4-92C7-C10A26DFCC42}" type="pres">
      <dgm:prSet presAssocID="{B2276547-8EF3-438F-A23F-F0175EE80437}" presName="spacer" presStyleCnt="0"/>
      <dgm:spPr/>
    </dgm:pt>
    <dgm:pt modelId="{1106C057-974F-4CF8-870F-DBAD13C24F52}" type="pres">
      <dgm:prSet presAssocID="{FEF974F9-1239-457A-BFC2-B7FCF3670818}" presName="parentText" presStyleLbl="node1" presStyleIdx="11" presStyleCnt="15">
        <dgm:presLayoutVars>
          <dgm:chMax val="0"/>
          <dgm:bulletEnabled val="1"/>
        </dgm:presLayoutVars>
      </dgm:prSet>
      <dgm:spPr/>
    </dgm:pt>
    <dgm:pt modelId="{872727B0-B193-4513-9FCB-C48FDDF02360}" type="pres">
      <dgm:prSet presAssocID="{ACFABEA0-3113-44E7-81D2-E5E6D7BEC705}" presName="spacer" presStyleCnt="0"/>
      <dgm:spPr/>
    </dgm:pt>
    <dgm:pt modelId="{15E7095A-C937-4C75-B537-E270C0B3DCE8}" type="pres">
      <dgm:prSet presAssocID="{9AE87A7E-5A2E-44D4-A93F-31B0ECBF3C45}" presName="parentText" presStyleLbl="node1" presStyleIdx="12" presStyleCnt="15">
        <dgm:presLayoutVars>
          <dgm:chMax val="0"/>
          <dgm:bulletEnabled val="1"/>
        </dgm:presLayoutVars>
      </dgm:prSet>
      <dgm:spPr/>
    </dgm:pt>
    <dgm:pt modelId="{4ADF62E9-6EAA-4F28-925C-C1BA96556728}" type="pres">
      <dgm:prSet presAssocID="{7DE69C2C-E43B-4394-9D40-CA0478B5DDCD}" presName="spacer" presStyleCnt="0"/>
      <dgm:spPr/>
    </dgm:pt>
    <dgm:pt modelId="{CD10C5FD-28EB-411A-AE6D-2CC4D83636F5}" type="pres">
      <dgm:prSet presAssocID="{670BF6D4-4027-48C3-BC82-8BF966272E8E}" presName="parentText" presStyleLbl="node1" presStyleIdx="13" presStyleCnt="15">
        <dgm:presLayoutVars>
          <dgm:chMax val="0"/>
          <dgm:bulletEnabled val="1"/>
        </dgm:presLayoutVars>
      </dgm:prSet>
      <dgm:spPr/>
    </dgm:pt>
    <dgm:pt modelId="{DB1C09D6-52AD-4672-AA6D-A1CC1739221E}" type="pres">
      <dgm:prSet presAssocID="{2FE5711E-A5E3-4AC4-9603-8CD51D7F38ED}" presName="spacer" presStyleCnt="0"/>
      <dgm:spPr/>
    </dgm:pt>
    <dgm:pt modelId="{C582CE8E-A842-4C5D-95BC-E6A9A3BAB375}" type="pres">
      <dgm:prSet presAssocID="{10986012-0C16-4D67-B371-5B467924ED6E}" presName="parentText" presStyleLbl="node1" presStyleIdx="14" presStyleCnt="15" custLinFactNeighborY="-60050">
        <dgm:presLayoutVars>
          <dgm:chMax val="0"/>
          <dgm:bulletEnabled val="1"/>
        </dgm:presLayoutVars>
      </dgm:prSet>
      <dgm:spPr/>
    </dgm:pt>
  </dgm:ptLst>
  <dgm:cxnLst>
    <dgm:cxn modelId="{7F8B541F-88A8-4F86-8780-67D3CAAC3EFF}" srcId="{28BBD19A-78B9-4941-AF85-28154B1C4ED1}" destId="{02D7AD3E-9B75-48A0-BE57-EAA02CCEBC0A}" srcOrd="7" destOrd="0" parTransId="{9654AB4E-7311-4643-BE0C-2FABEA3F2167}" sibTransId="{5B204A73-AF2D-4F4F-8090-F6E6E8277553}"/>
    <dgm:cxn modelId="{DC3ABE23-47FC-4D05-9484-B557143EE47C}" type="presOf" srcId="{670BF6D4-4027-48C3-BC82-8BF966272E8E}" destId="{CD10C5FD-28EB-411A-AE6D-2CC4D83636F5}" srcOrd="0" destOrd="0" presId="urn:microsoft.com/office/officeart/2005/8/layout/vList2"/>
    <dgm:cxn modelId="{99108F2B-B157-493E-8AC0-1D8507061B3A}" srcId="{28BBD19A-78B9-4941-AF85-28154B1C4ED1}" destId="{C33B742D-4631-43F0-9474-4F3858307218}" srcOrd="2" destOrd="0" parTransId="{D90BCA33-62B7-49BD-90EB-49A47EBF9070}" sibTransId="{CB570457-8117-4EEF-9966-B2752190A70B}"/>
    <dgm:cxn modelId="{C3D16A2E-36E7-4BD2-8C69-C38CF4DE6446}" srcId="{28BBD19A-78B9-4941-AF85-28154B1C4ED1}" destId="{CECC724E-8224-4048-AFF8-80AE4344980A}" srcOrd="9" destOrd="0" parTransId="{E5FD3D76-F65C-4155-8A93-A3F645674E67}" sibTransId="{19581E12-DF21-4C57-9C69-9AD32114070F}"/>
    <dgm:cxn modelId="{85F93A40-8092-4B09-B3A4-8CDA2D920187}" type="presOf" srcId="{02D7AD3E-9B75-48A0-BE57-EAA02CCEBC0A}" destId="{44C6F217-2E6C-4AC1-AF3B-BAA5C4AB6ADC}" srcOrd="0" destOrd="0" presId="urn:microsoft.com/office/officeart/2005/8/layout/vList2"/>
    <dgm:cxn modelId="{AF64074D-D8E2-4849-9954-D6D663C56824}" srcId="{28BBD19A-78B9-4941-AF85-28154B1C4ED1}" destId="{5405E651-F1C8-4939-BDEB-7765BED84C15}" srcOrd="8" destOrd="0" parTransId="{1072CA88-C608-475D-8C08-2894177052FA}" sibTransId="{0FC41C58-38F1-4A90-8A3A-E5968BC6C1B5}"/>
    <dgm:cxn modelId="{55F3084D-8B33-45B1-B8DF-8D9405118F5F}" type="presOf" srcId="{5A1B482F-8EF2-4159-B7EF-92128643EFB8}" destId="{F411A2F0-E44D-4C7A-8BBF-AC76CE3E42BB}" srcOrd="0" destOrd="0" presId="urn:microsoft.com/office/officeart/2005/8/layout/vList2"/>
    <dgm:cxn modelId="{2CB9566D-6D90-448C-8953-311482170C92}" srcId="{28BBD19A-78B9-4941-AF85-28154B1C4ED1}" destId="{670BF6D4-4027-48C3-BC82-8BF966272E8E}" srcOrd="13" destOrd="0" parTransId="{B6748342-1F17-447D-9078-2CAE5CE1B4C4}" sibTransId="{2FE5711E-A5E3-4AC4-9603-8CD51D7F38ED}"/>
    <dgm:cxn modelId="{1280854E-F593-45F0-8B35-CBEA8ABCD3D3}" srcId="{28BBD19A-78B9-4941-AF85-28154B1C4ED1}" destId="{10986012-0C16-4D67-B371-5B467924ED6E}" srcOrd="14" destOrd="0" parTransId="{FFD55C76-D953-4E1C-9971-7E9625D04086}" sibTransId="{21723E92-FA8B-4665-BABB-27AF8AE2A5CF}"/>
    <dgm:cxn modelId="{84D73272-6166-4A6C-A8AA-1B1BE969C643}" type="presOf" srcId="{16D07A52-761D-4599-A880-A456CF4F037A}" destId="{9054E69E-0B1F-4E8D-BC3C-4A63EB493E5E}" srcOrd="0" destOrd="0" presId="urn:microsoft.com/office/officeart/2005/8/layout/vList2"/>
    <dgm:cxn modelId="{BA1E437E-E0A5-4D2F-A358-AAB948C59067}" type="presOf" srcId="{B7D526ED-C59A-468A-A109-27F76BA0BA35}" destId="{95B3C87F-8DCB-4737-8E4F-9D68CA60F3C4}" srcOrd="0" destOrd="0" presId="urn:microsoft.com/office/officeart/2005/8/layout/vList2"/>
    <dgm:cxn modelId="{6FDAC482-3F83-4DCA-BED4-8C5F5AA31803}" srcId="{28BBD19A-78B9-4941-AF85-28154B1C4ED1}" destId="{2DE03869-E025-42AB-B55C-7306BC15612B}" srcOrd="4" destOrd="0" parTransId="{7BD79C85-003F-4D9C-BDEF-046D60B295FE}" sibTransId="{2A46A9EE-C649-49C1-A161-60F36D518895}"/>
    <dgm:cxn modelId="{2E885789-6946-446C-B591-7C6FFEFBF161}" srcId="{28BBD19A-78B9-4941-AF85-28154B1C4ED1}" destId="{B7D526ED-C59A-468A-A109-27F76BA0BA35}" srcOrd="3" destOrd="0" parTransId="{29F16EC3-82F2-4110-9C62-58085F057490}" sibTransId="{45245540-DE9E-4A90-B02E-47960941E262}"/>
    <dgm:cxn modelId="{049C038A-15BE-4142-BAD6-B1501D4587A9}" type="presOf" srcId="{AD7E3F26-1E08-46B2-AEFC-BFE56226A54E}" destId="{574A2EDF-5064-41F0-BDC9-3FB2E2C75242}" srcOrd="0" destOrd="0" presId="urn:microsoft.com/office/officeart/2005/8/layout/vList2"/>
    <dgm:cxn modelId="{90436D9E-5B6D-434B-B303-834B76AD4649}" srcId="{28BBD19A-78B9-4941-AF85-28154B1C4ED1}" destId="{DBC2DFCC-C027-4258-8517-95BF21A1EE54}" srcOrd="1" destOrd="0" parTransId="{3FC5D341-8B26-4DC6-A90D-9C0132C9CD97}" sibTransId="{DCC56B29-0FD1-49AF-9F2A-8C5FE217F81F}"/>
    <dgm:cxn modelId="{951B50A4-0734-4A1C-BB2E-DE901F2EB7A7}" srcId="{28BBD19A-78B9-4941-AF85-28154B1C4ED1}" destId="{AD7E3F26-1E08-46B2-AEFC-BFE56226A54E}" srcOrd="6" destOrd="0" parTransId="{E83E28EE-AEB3-4CC4-BB72-A61AEF9025F5}" sibTransId="{8411C80E-2391-4CF8-A6A0-FF514D2D7EFA}"/>
    <dgm:cxn modelId="{25CA32AC-AF06-432E-B024-E8EBB7C642A6}" srcId="{28BBD19A-78B9-4941-AF85-28154B1C4ED1}" destId="{5A1B482F-8EF2-4159-B7EF-92128643EFB8}" srcOrd="10" destOrd="0" parTransId="{C8C65883-34C0-4718-A927-2485A006681F}" sibTransId="{B2276547-8EF3-438F-A23F-F0175EE80437}"/>
    <dgm:cxn modelId="{88F127B0-92E0-44B9-99BC-46A9601F3BFD}" type="presOf" srcId="{0A758A00-1003-4B10-BD6A-CFAC50A9215B}" destId="{09E677F8-66E0-4EB0-9DFE-1E2921CD0E20}" srcOrd="0" destOrd="0" presId="urn:microsoft.com/office/officeart/2005/8/layout/vList2"/>
    <dgm:cxn modelId="{B045FFB1-C020-47FF-90D5-05385A2B2D33}" srcId="{28BBD19A-78B9-4941-AF85-28154B1C4ED1}" destId="{9AE87A7E-5A2E-44D4-A93F-31B0ECBF3C45}" srcOrd="12" destOrd="0" parTransId="{EB8C3A9D-3A21-46DC-BD61-A4298875A363}" sibTransId="{7DE69C2C-E43B-4394-9D40-CA0478B5DDCD}"/>
    <dgm:cxn modelId="{C42481B2-45D7-43A8-A1D1-10A96560C35B}" type="presOf" srcId="{5405E651-F1C8-4939-BDEB-7765BED84C15}" destId="{EBEEE6E7-3AE8-4753-96A4-3C37B073FDDD}" srcOrd="0" destOrd="0" presId="urn:microsoft.com/office/officeart/2005/8/layout/vList2"/>
    <dgm:cxn modelId="{7F221FC2-2C01-4043-84FB-ABDC8427B0CB}" srcId="{28BBD19A-78B9-4941-AF85-28154B1C4ED1}" destId="{16D07A52-761D-4599-A880-A456CF4F037A}" srcOrd="5" destOrd="0" parTransId="{ACBF750C-8E14-404F-AE52-0DC4EA6D4F6D}" sibTransId="{7689A5D0-02E1-4AED-A9BD-4253AD7ED608}"/>
    <dgm:cxn modelId="{69E73CC8-12F2-4D42-976C-E010CCF32DEF}" type="presOf" srcId="{FEF974F9-1239-457A-BFC2-B7FCF3670818}" destId="{1106C057-974F-4CF8-870F-DBAD13C24F52}" srcOrd="0" destOrd="0" presId="urn:microsoft.com/office/officeart/2005/8/layout/vList2"/>
    <dgm:cxn modelId="{ACBCB9CF-A07A-46D9-9E5F-1A33183348F9}" type="presOf" srcId="{28BBD19A-78B9-4941-AF85-28154B1C4ED1}" destId="{5EE3F161-9C80-4727-A2CD-24314E43A17A}" srcOrd="0" destOrd="0" presId="urn:microsoft.com/office/officeart/2005/8/layout/vList2"/>
    <dgm:cxn modelId="{36E8F4CF-8898-42AE-BC53-B20D1ADB6BCA}" type="presOf" srcId="{CECC724E-8224-4048-AFF8-80AE4344980A}" destId="{03C3431C-5555-4F7C-A5D8-F7EBC1C93326}" srcOrd="0" destOrd="0" presId="urn:microsoft.com/office/officeart/2005/8/layout/vList2"/>
    <dgm:cxn modelId="{5FA1B1D6-D61B-4559-97E3-CF6C8E572D10}" type="presOf" srcId="{DBC2DFCC-C027-4258-8517-95BF21A1EE54}" destId="{5CD812B9-46EE-4234-9F0D-191D18F09BAD}" srcOrd="0" destOrd="0" presId="urn:microsoft.com/office/officeart/2005/8/layout/vList2"/>
    <dgm:cxn modelId="{425B7CDC-AA69-4BF7-BEC1-1046D01B7E02}" type="presOf" srcId="{10986012-0C16-4D67-B371-5B467924ED6E}" destId="{C582CE8E-A842-4C5D-95BC-E6A9A3BAB375}" srcOrd="0" destOrd="0" presId="urn:microsoft.com/office/officeart/2005/8/layout/vList2"/>
    <dgm:cxn modelId="{43702AE8-923D-4C9C-802D-F26B26075F37}" srcId="{28BBD19A-78B9-4941-AF85-28154B1C4ED1}" destId="{FEF974F9-1239-457A-BFC2-B7FCF3670818}" srcOrd="11" destOrd="0" parTransId="{AFB02D35-8C72-4887-8674-76BAEDE2AD7A}" sibTransId="{ACFABEA0-3113-44E7-81D2-E5E6D7BEC705}"/>
    <dgm:cxn modelId="{AAD623EC-B92A-4ECC-93D3-366713886CE1}" srcId="{28BBD19A-78B9-4941-AF85-28154B1C4ED1}" destId="{0A758A00-1003-4B10-BD6A-CFAC50A9215B}" srcOrd="0" destOrd="0" parTransId="{4D4084A4-E206-4E26-A60E-3E99920FE04B}" sibTransId="{3A7E2847-5603-4630-9C82-D325F911DCF5}"/>
    <dgm:cxn modelId="{0F2B6BF1-EC6B-4B84-BF26-ED52C5A3CCFA}" type="presOf" srcId="{2DE03869-E025-42AB-B55C-7306BC15612B}" destId="{82D8F433-F333-4D29-8C2B-A923BFFEE6BD}" srcOrd="0" destOrd="0" presId="urn:microsoft.com/office/officeart/2005/8/layout/vList2"/>
    <dgm:cxn modelId="{687A08F2-8332-4754-B902-1C010605C537}" type="presOf" srcId="{9AE87A7E-5A2E-44D4-A93F-31B0ECBF3C45}" destId="{15E7095A-C937-4C75-B537-E270C0B3DCE8}" srcOrd="0" destOrd="0" presId="urn:microsoft.com/office/officeart/2005/8/layout/vList2"/>
    <dgm:cxn modelId="{34F7A9FF-BFC3-4A2F-A6E1-27988264DCFA}" type="presOf" srcId="{C33B742D-4631-43F0-9474-4F3858307218}" destId="{8F36031F-240D-4964-AD79-C02E9DFAD93D}" srcOrd="0" destOrd="0" presId="urn:microsoft.com/office/officeart/2005/8/layout/vList2"/>
    <dgm:cxn modelId="{F48AC062-C147-4981-92D6-B5D2EA4F0B4E}" type="presParOf" srcId="{5EE3F161-9C80-4727-A2CD-24314E43A17A}" destId="{09E677F8-66E0-4EB0-9DFE-1E2921CD0E20}" srcOrd="0" destOrd="0" presId="urn:microsoft.com/office/officeart/2005/8/layout/vList2"/>
    <dgm:cxn modelId="{0DF259DC-6BED-4BDF-AFE0-CD54FD3D53D2}" type="presParOf" srcId="{5EE3F161-9C80-4727-A2CD-24314E43A17A}" destId="{FB51DB35-9EED-4CE8-B2E0-8B516C7CFC13}" srcOrd="1" destOrd="0" presId="urn:microsoft.com/office/officeart/2005/8/layout/vList2"/>
    <dgm:cxn modelId="{D7A89741-C62C-431A-A493-CE62823B4F16}" type="presParOf" srcId="{5EE3F161-9C80-4727-A2CD-24314E43A17A}" destId="{5CD812B9-46EE-4234-9F0D-191D18F09BAD}" srcOrd="2" destOrd="0" presId="urn:microsoft.com/office/officeart/2005/8/layout/vList2"/>
    <dgm:cxn modelId="{63492BB8-C26D-4A25-91D4-69CF8F106F92}" type="presParOf" srcId="{5EE3F161-9C80-4727-A2CD-24314E43A17A}" destId="{7EF04205-14DF-42B8-A07E-FBF9B5AA5272}" srcOrd="3" destOrd="0" presId="urn:microsoft.com/office/officeart/2005/8/layout/vList2"/>
    <dgm:cxn modelId="{CA36AEEB-2518-437A-A834-4292D33EC713}" type="presParOf" srcId="{5EE3F161-9C80-4727-A2CD-24314E43A17A}" destId="{8F36031F-240D-4964-AD79-C02E9DFAD93D}" srcOrd="4" destOrd="0" presId="urn:microsoft.com/office/officeart/2005/8/layout/vList2"/>
    <dgm:cxn modelId="{1B04C8F9-DFE8-47F2-83A0-3E7C14E78166}" type="presParOf" srcId="{5EE3F161-9C80-4727-A2CD-24314E43A17A}" destId="{378E1185-9C85-47C1-A731-0CA55ACA59DE}" srcOrd="5" destOrd="0" presId="urn:microsoft.com/office/officeart/2005/8/layout/vList2"/>
    <dgm:cxn modelId="{9375710A-61D2-4221-B87F-A72D6AF8034A}" type="presParOf" srcId="{5EE3F161-9C80-4727-A2CD-24314E43A17A}" destId="{95B3C87F-8DCB-4737-8E4F-9D68CA60F3C4}" srcOrd="6" destOrd="0" presId="urn:microsoft.com/office/officeart/2005/8/layout/vList2"/>
    <dgm:cxn modelId="{608BACEE-420A-4DB6-A3B0-FE3BE4F63F56}" type="presParOf" srcId="{5EE3F161-9C80-4727-A2CD-24314E43A17A}" destId="{CD689ED4-7BE4-483A-A787-A079C81C0A81}" srcOrd="7" destOrd="0" presId="urn:microsoft.com/office/officeart/2005/8/layout/vList2"/>
    <dgm:cxn modelId="{3B985DA1-CB92-4781-9854-1BDAA6FA2913}" type="presParOf" srcId="{5EE3F161-9C80-4727-A2CD-24314E43A17A}" destId="{82D8F433-F333-4D29-8C2B-A923BFFEE6BD}" srcOrd="8" destOrd="0" presId="urn:microsoft.com/office/officeart/2005/8/layout/vList2"/>
    <dgm:cxn modelId="{3A7F497A-852D-46DB-BA4F-12E0482F68E0}" type="presParOf" srcId="{5EE3F161-9C80-4727-A2CD-24314E43A17A}" destId="{2E458518-272B-468C-8E09-A1CBC1E6D31F}" srcOrd="9" destOrd="0" presId="urn:microsoft.com/office/officeart/2005/8/layout/vList2"/>
    <dgm:cxn modelId="{6F60885B-5F9E-432A-8CB0-10AE9D798288}" type="presParOf" srcId="{5EE3F161-9C80-4727-A2CD-24314E43A17A}" destId="{9054E69E-0B1F-4E8D-BC3C-4A63EB493E5E}" srcOrd="10" destOrd="0" presId="urn:microsoft.com/office/officeart/2005/8/layout/vList2"/>
    <dgm:cxn modelId="{FC6A4764-1E3A-4C1D-86BB-750FD5FB72CB}" type="presParOf" srcId="{5EE3F161-9C80-4727-A2CD-24314E43A17A}" destId="{1284DE6C-F95E-4BA2-92D2-F77CD3292D6A}" srcOrd="11" destOrd="0" presId="urn:microsoft.com/office/officeart/2005/8/layout/vList2"/>
    <dgm:cxn modelId="{E21671D9-B76E-4EC9-A1EB-631A7E22243F}" type="presParOf" srcId="{5EE3F161-9C80-4727-A2CD-24314E43A17A}" destId="{574A2EDF-5064-41F0-BDC9-3FB2E2C75242}" srcOrd="12" destOrd="0" presId="urn:microsoft.com/office/officeart/2005/8/layout/vList2"/>
    <dgm:cxn modelId="{AD7B79A9-6E77-4D5B-A35C-76DFC16F00D6}" type="presParOf" srcId="{5EE3F161-9C80-4727-A2CD-24314E43A17A}" destId="{377C0D7E-CE22-4895-B132-6AF7E6F2E1AC}" srcOrd="13" destOrd="0" presId="urn:microsoft.com/office/officeart/2005/8/layout/vList2"/>
    <dgm:cxn modelId="{290C1000-942B-494D-BC7F-92721BAF7E77}" type="presParOf" srcId="{5EE3F161-9C80-4727-A2CD-24314E43A17A}" destId="{44C6F217-2E6C-4AC1-AF3B-BAA5C4AB6ADC}" srcOrd="14" destOrd="0" presId="urn:microsoft.com/office/officeart/2005/8/layout/vList2"/>
    <dgm:cxn modelId="{738D039F-FCAE-45DD-8FAB-6441BEDE0478}" type="presParOf" srcId="{5EE3F161-9C80-4727-A2CD-24314E43A17A}" destId="{88195683-20ED-4CD9-BC13-856C3BB5595C}" srcOrd="15" destOrd="0" presId="urn:microsoft.com/office/officeart/2005/8/layout/vList2"/>
    <dgm:cxn modelId="{CAFEB82F-5EF9-45A8-848F-582833CCC9A5}" type="presParOf" srcId="{5EE3F161-9C80-4727-A2CD-24314E43A17A}" destId="{EBEEE6E7-3AE8-4753-96A4-3C37B073FDDD}" srcOrd="16" destOrd="0" presId="urn:microsoft.com/office/officeart/2005/8/layout/vList2"/>
    <dgm:cxn modelId="{82A58FE9-5223-42DC-9CCC-1F32C4967757}" type="presParOf" srcId="{5EE3F161-9C80-4727-A2CD-24314E43A17A}" destId="{23C3C26C-349C-480C-BC1A-AFA3932C8E8B}" srcOrd="17" destOrd="0" presId="urn:microsoft.com/office/officeart/2005/8/layout/vList2"/>
    <dgm:cxn modelId="{0FEAF343-923C-4D00-AB59-5D08F41E82E8}" type="presParOf" srcId="{5EE3F161-9C80-4727-A2CD-24314E43A17A}" destId="{03C3431C-5555-4F7C-A5D8-F7EBC1C93326}" srcOrd="18" destOrd="0" presId="urn:microsoft.com/office/officeart/2005/8/layout/vList2"/>
    <dgm:cxn modelId="{FB60D861-A8B6-4D4C-97E7-A4151AE7011A}" type="presParOf" srcId="{5EE3F161-9C80-4727-A2CD-24314E43A17A}" destId="{C0F60493-B790-4546-B425-CEF6565CF97E}" srcOrd="19" destOrd="0" presId="urn:microsoft.com/office/officeart/2005/8/layout/vList2"/>
    <dgm:cxn modelId="{C7E2D95F-2EF6-4CD5-88A0-7AD4121B999A}" type="presParOf" srcId="{5EE3F161-9C80-4727-A2CD-24314E43A17A}" destId="{F411A2F0-E44D-4C7A-8BBF-AC76CE3E42BB}" srcOrd="20" destOrd="0" presId="urn:microsoft.com/office/officeart/2005/8/layout/vList2"/>
    <dgm:cxn modelId="{E5767448-1BF9-4663-9610-545675C7D183}" type="presParOf" srcId="{5EE3F161-9C80-4727-A2CD-24314E43A17A}" destId="{8D23EB8E-3847-47A4-92C7-C10A26DFCC42}" srcOrd="21" destOrd="0" presId="urn:microsoft.com/office/officeart/2005/8/layout/vList2"/>
    <dgm:cxn modelId="{81B10D65-4990-4E43-A5DA-1C8277E57C6C}" type="presParOf" srcId="{5EE3F161-9C80-4727-A2CD-24314E43A17A}" destId="{1106C057-974F-4CF8-870F-DBAD13C24F52}" srcOrd="22" destOrd="0" presId="urn:microsoft.com/office/officeart/2005/8/layout/vList2"/>
    <dgm:cxn modelId="{8ADFF569-12CF-44DC-B767-8294CFC6C885}" type="presParOf" srcId="{5EE3F161-9C80-4727-A2CD-24314E43A17A}" destId="{872727B0-B193-4513-9FCB-C48FDDF02360}" srcOrd="23" destOrd="0" presId="urn:microsoft.com/office/officeart/2005/8/layout/vList2"/>
    <dgm:cxn modelId="{5CA30526-C950-43EE-B035-CC31E42F03A4}" type="presParOf" srcId="{5EE3F161-9C80-4727-A2CD-24314E43A17A}" destId="{15E7095A-C937-4C75-B537-E270C0B3DCE8}" srcOrd="24" destOrd="0" presId="urn:microsoft.com/office/officeart/2005/8/layout/vList2"/>
    <dgm:cxn modelId="{4CFFE3AB-8776-4D57-817F-5A04C7924DAA}" type="presParOf" srcId="{5EE3F161-9C80-4727-A2CD-24314E43A17A}" destId="{4ADF62E9-6EAA-4F28-925C-C1BA96556728}" srcOrd="25" destOrd="0" presId="urn:microsoft.com/office/officeart/2005/8/layout/vList2"/>
    <dgm:cxn modelId="{8940CC9B-683E-4E07-B20A-869D4C364E2A}" type="presParOf" srcId="{5EE3F161-9C80-4727-A2CD-24314E43A17A}" destId="{CD10C5FD-28EB-411A-AE6D-2CC4D83636F5}" srcOrd="26" destOrd="0" presId="urn:microsoft.com/office/officeart/2005/8/layout/vList2"/>
    <dgm:cxn modelId="{AB994679-5D9B-45B8-AAB6-27AA64980855}" type="presParOf" srcId="{5EE3F161-9C80-4727-A2CD-24314E43A17A}" destId="{DB1C09D6-52AD-4672-AA6D-A1CC1739221E}" srcOrd="27" destOrd="0" presId="urn:microsoft.com/office/officeart/2005/8/layout/vList2"/>
    <dgm:cxn modelId="{97E32879-9FC3-4961-8C67-3632C76D2A0F}" type="presParOf" srcId="{5EE3F161-9C80-4727-A2CD-24314E43A17A}" destId="{C582CE8E-A842-4C5D-95BC-E6A9A3BAB375}" srcOrd="2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48AF69-1EB4-4E41-B7D3-992E8A1C9640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36F9007-ED31-4264-BDAF-799272F69FB0}">
      <dgm:prSet/>
      <dgm:spPr>
        <a:blipFill rotWithShape="0">
          <a:blip xmlns:r="http://schemas.openxmlformats.org/officeDocument/2006/relationships" r:embed="rId1"/>
          <a:tile tx="0" ty="0" sx="100000" sy="100000" flip="none" algn="tl"/>
        </a:blipFill>
      </dgm:spPr>
      <dgm:t>
        <a:bodyPr/>
        <a:lstStyle/>
        <a:p>
          <a:r>
            <a:rPr lang="en-GB" dirty="0"/>
            <a:t>THANK YOU</a:t>
          </a:r>
          <a:endParaRPr lang="en-IN" dirty="0"/>
        </a:p>
      </dgm:t>
    </dgm:pt>
    <dgm:pt modelId="{4B727CF1-13F5-4BAC-BE86-7C1453FEF866}" type="parTrans" cxnId="{EE537A93-1A31-402A-89D4-486A05495376}">
      <dgm:prSet/>
      <dgm:spPr/>
      <dgm:t>
        <a:bodyPr/>
        <a:lstStyle/>
        <a:p>
          <a:endParaRPr lang="en-IN"/>
        </a:p>
      </dgm:t>
    </dgm:pt>
    <dgm:pt modelId="{DABA55A2-A87B-46CB-A4D2-2D88D0BCD36C}" type="sibTrans" cxnId="{EE537A93-1A31-402A-89D4-486A05495376}">
      <dgm:prSet/>
      <dgm:spPr/>
      <dgm:t>
        <a:bodyPr/>
        <a:lstStyle/>
        <a:p>
          <a:endParaRPr lang="en-IN"/>
        </a:p>
      </dgm:t>
    </dgm:pt>
    <dgm:pt modelId="{E9A4049B-91B9-42E6-837B-F9538C73B2D2}" type="pres">
      <dgm:prSet presAssocID="{D848AF69-1EB4-4E41-B7D3-992E8A1C9640}" presName="compositeShape" presStyleCnt="0">
        <dgm:presLayoutVars>
          <dgm:chMax val="7"/>
          <dgm:dir/>
          <dgm:resizeHandles val="exact"/>
        </dgm:presLayoutVars>
      </dgm:prSet>
      <dgm:spPr/>
    </dgm:pt>
    <dgm:pt modelId="{57C87E6F-6118-456C-AAB9-8DCF14E8EAB5}" type="pres">
      <dgm:prSet presAssocID="{036F9007-ED31-4264-BDAF-799272F69FB0}" presName="circ1TxSh" presStyleLbl="vennNode1" presStyleIdx="0" presStyleCnt="1" custScaleX="229558"/>
      <dgm:spPr/>
    </dgm:pt>
  </dgm:ptLst>
  <dgm:cxnLst>
    <dgm:cxn modelId="{9757FC37-679F-41FD-AB24-BEAB34F0558E}" type="presOf" srcId="{D848AF69-1EB4-4E41-B7D3-992E8A1C9640}" destId="{E9A4049B-91B9-42E6-837B-F9538C73B2D2}" srcOrd="0" destOrd="0" presId="urn:microsoft.com/office/officeart/2005/8/layout/venn1"/>
    <dgm:cxn modelId="{EE537A93-1A31-402A-89D4-486A05495376}" srcId="{D848AF69-1EB4-4E41-B7D3-992E8A1C9640}" destId="{036F9007-ED31-4264-BDAF-799272F69FB0}" srcOrd="0" destOrd="0" parTransId="{4B727CF1-13F5-4BAC-BE86-7C1453FEF866}" sibTransId="{DABA55A2-A87B-46CB-A4D2-2D88D0BCD36C}"/>
    <dgm:cxn modelId="{943AFCC6-9850-4D44-B022-B2C13A974458}" type="presOf" srcId="{036F9007-ED31-4264-BDAF-799272F69FB0}" destId="{57C87E6F-6118-456C-AAB9-8DCF14E8EAB5}" srcOrd="0" destOrd="0" presId="urn:microsoft.com/office/officeart/2005/8/layout/venn1"/>
    <dgm:cxn modelId="{F7535941-222F-4402-A9C0-B38564160ACF}" type="presParOf" srcId="{E9A4049B-91B9-42E6-837B-F9538C73B2D2}" destId="{57C87E6F-6118-456C-AAB9-8DCF14E8EAB5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18C0B7-6494-4FA9-9B65-D7AC99C2F65D}">
      <dsp:nvSpPr>
        <dsp:cNvPr id="0" name=""/>
        <dsp:cNvSpPr/>
      </dsp:nvSpPr>
      <dsp:spPr>
        <a:xfrm>
          <a:off x="810039" y="0"/>
          <a:ext cx="9180443" cy="3565573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812B68-0970-42F1-8278-D4FFBC16AEC1}">
      <dsp:nvSpPr>
        <dsp:cNvPr id="0" name=""/>
        <dsp:cNvSpPr/>
      </dsp:nvSpPr>
      <dsp:spPr>
        <a:xfrm>
          <a:off x="5400261" y="1030350"/>
          <a:ext cx="1835798" cy="142622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prstClr val="white"/>
              </a:solidFill>
              <a:latin typeface="Garamond" panose="02020404030301010803"/>
              <a:ea typeface="+mn-ea"/>
              <a:cs typeface="+mn-cs"/>
            </a:rPr>
            <a:t>4. Narmadha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>
              <a:solidFill>
                <a:prstClr val="white"/>
              </a:solidFill>
              <a:latin typeface="Garamond" panose="02020404030301010803"/>
              <a:ea typeface="+mn-ea"/>
              <a:cs typeface="+mn-cs"/>
            </a:rPr>
            <a:t>Radhakrishnan</a:t>
          </a:r>
          <a:endParaRPr lang="en-IN" sz="2100" kern="1200" dirty="0">
            <a:solidFill>
              <a:prstClr val="white"/>
            </a:solidFill>
            <a:latin typeface="Garamond" panose="02020404030301010803"/>
            <a:ea typeface="+mn-ea"/>
            <a:cs typeface="+mn-cs"/>
          </a:endParaRPr>
        </a:p>
      </dsp:txBody>
      <dsp:txXfrm>
        <a:off x="5469884" y="1099973"/>
        <a:ext cx="1696552" cy="1286983"/>
      </dsp:txXfrm>
    </dsp:sp>
    <dsp:sp modelId="{1671BB96-CDE1-418C-AD1E-59BFF431C4AE}">
      <dsp:nvSpPr>
        <dsp:cNvPr id="0" name=""/>
        <dsp:cNvSpPr/>
      </dsp:nvSpPr>
      <dsp:spPr>
        <a:xfrm>
          <a:off x="3528745" y="1030350"/>
          <a:ext cx="1658444" cy="1426229"/>
        </a:xfrm>
        <a:prstGeom prst="roundRect">
          <a:avLst/>
        </a:prstGeom>
        <a:solidFill>
          <a:schemeClr val="accent4">
            <a:hueOff val="267003"/>
            <a:satOff val="3569"/>
            <a:lumOff val="172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prstClr val="white"/>
              </a:solidFill>
              <a:latin typeface="Garamond" panose="02020404030301010803"/>
              <a:ea typeface="+mn-ea"/>
              <a:cs typeface="+mn-cs"/>
            </a:rPr>
            <a:t>3. Manoj Kumar Reddy</a:t>
          </a:r>
          <a:endParaRPr lang="en-IN" sz="2100" kern="1200" dirty="0">
            <a:solidFill>
              <a:prstClr val="white"/>
            </a:solidFill>
            <a:latin typeface="Garamond" panose="02020404030301010803"/>
            <a:ea typeface="+mn-ea"/>
            <a:cs typeface="+mn-cs"/>
          </a:endParaRPr>
        </a:p>
      </dsp:txBody>
      <dsp:txXfrm>
        <a:off x="3598368" y="1099973"/>
        <a:ext cx="1519198" cy="1286983"/>
      </dsp:txXfrm>
    </dsp:sp>
    <dsp:sp modelId="{5C24725C-215E-47A7-8DE6-A4B6966F1772}">
      <dsp:nvSpPr>
        <dsp:cNvPr id="0" name=""/>
        <dsp:cNvSpPr/>
      </dsp:nvSpPr>
      <dsp:spPr>
        <a:xfrm>
          <a:off x="1710997" y="1043172"/>
          <a:ext cx="1658444" cy="1426229"/>
        </a:xfrm>
        <a:prstGeom prst="roundRect">
          <a:avLst/>
        </a:prstGeom>
        <a:solidFill>
          <a:schemeClr val="accent4">
            <a:hueOff val="534006"/>
            <a:satOff val="7138"/>
            <a:lumOff val="345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2. </a:t>
          </a:r>
          <a:r>
            <a:rPr lang="en-GB" sz="2700" kern="1200" dirty="0"/>
            <a:t>Asha A</a:t>
          </a:r>
          <a:endParaRPr lang="en-IN" sz="2700" kern="1200" dirty="0"/>
        </a:p>
      </dsp:txBody>
      <dsp:txXfrm>
        <a:off x="1780620" y="1112795"/>
        <a:ext cx="1519198" cy="1286983"/>
      </dsp:txXfrm>
    </dsp:sp>
    <dsp:sp modelId="{9F0F0069-99B6-4836-A809-28D9800E8970}">
      <dsp:nvSpPr>
        <dsp:cNvPr id="0" name=""/>
        <dsp:cNvSpPr/>
      </dsp:nvSpPr>
      <dsp:spPr>
        <a:xfrm>
          <a:off x="9142077" y="1030350"/>
          <a:ext cx="1658444" cy="1426229"/>
        </a:xfrm>
        <a:prstGeom prst="roundRect">
          <a:avLst/>
        </a:prstGeom>
        <a:solidFill>
          <a:schemeClr val="accent4">
            <a:hueOff val="801009"/>
            <a:satOff val="10706"/>
            <a:lumOff val="5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6. Vaishali Badgujar</a:t>
          </a:r>
          <a:endParaRPr lang="en-IN" sz="2700" kern="1200" dirty="0"/>
        </a:p>
      </dsp:txBody>
      <dsp:txXfrm>
        <a:off x="9211700" y="1099973"/>
        <a:ext cx="1519198" cy="1286983"/>
      </dsp:txXfrm>
    </dsp:sp>
    <dsp:sp modelId="{4F45116B-82BF-424A-B714-10BD138B50C3}">
      <dsp:nvSpPr>
        <dsp:cNvPr id="0" name=""/>
        <dsp:cNvSpPr/>
      </dsp:nvSpPr>
      <dsp:spPr>
        <a:xfrm>
          <a:off x="0" y="1082921"/>
          <a:ext cx="1658444" cy="1426229"/>
        </a:xfrm>
        <a:prstGeom prst="roundRect">
          <a:avLst/>
        </a:prstGeom>
        <a:solidFill>
          <a:schemeClr val="accent4">
            <a:hueOff val="1068012"/>
            <a:satOff val="14275"/>
            <a:lumOff val="690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1. Anjali Thombre</a:t>
          </a:r>
          <a:endParaRPr lang="en-IN" sz="2700" kern="1200" dirty="0"/>
        </a:p>
      </dsp:txBody>
      <dsp:txXfrm>
        <a:off x="69623" y="1152544"/>
        <a:ext cx="1519198" cy="1286983"/>
      </dsp:txXfrm>
    </dsp:sp>
    <dsp:sp modelId="{33BD9AAC-FC0B-41F4-BA5F-70918FED0C1C}">
      <dsp:nvSpPr>
        <dsp:cNvPr id="0" name=""/>
        <dsp:cNvSpPr/>
      </dsp:nvSpPr>
      <dsp:spPr>
        <a:xfrm>
          <a:off x="7390691" y="1030350"/>
          <a:ext cx="1658444" cy="1426229"/>
        </a:xfrm>
        <a:prstGeom prst="roundRect">
          <a:avLst/>
        </a:prstGeom>
        <a:solidFill>
          <a:schemeClr val="accent4">
            <a:hueOff val="1335015"/>
            <a:satOff val="17844"/>
            <a:lumOff val="862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5. Samrat Jha</a:t>
          </a:r>
          <a:endParaRPr lang="en-IN" sz="2700" kern="1200" dirty="0"/>
        </a:p>
      </dsp:txBody>
      <dsp:txXfrm>
        <a:off x="7460314" y="1099973"/>
        <a:ext cx="1519198" cy="12869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E677F8-66E0-4EB0-9DFE-1E2921CD0E20}">
      <dsp:nvSpPr>
        <dsp:cNvPr id="0" name=""/>
        <dsp:cNvSpPr/>
      </dsp:nvSpPr>
      <dsp:spPr>
        <a:xfrm>
          <a:off x="0" y="0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KPI-1 Average Attrition Rate For All Departments</a:t>
          </a:r>
          <a:endParaRPr lang="en-IN" sz="1500" b="1" kern="1200" dirty="0"/>
        </a:p>
      </dsp:txBody>
      <dsp:txXfrm>
        <a:off x="17134" y="17134"/>
        <a:ext cx="10925279" cy="316732"/>
      </dsp:txXfrm>
    </dsp:sp>
    <dsp:sp modelId="{5CD812B9-46EE-4234-9F0D-191D18F09BAD}">
      <dsp:nvSpPr>
        <dsp:cNvPr id="0" name=""/>
        <dsp:cNvSpPr/>
      </dsp:nvSpPr>
      <dsp:spPr>
        <a:xfrm>
          <a:off x="0" y="433573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KPI-2  Average Hourly Rate For Male Research Scientist</a:t>
          </a:r>
          <a:endParaRPr lang="en-IN" sz="1500" b="1" kern="1200" dirty="0"/>
        </a:p>
      </dsp:txBody>
      <dsp:txXfrm>
        <a:off x="17134" y="450707"/>
        <a:ext cx="10925279" cy="316732"/>
      </dsp:txXfrm>
    </dsp:sp>
    <dsp:sp modelId="{8F36031F-240D-4964-AD79-C02E9DFAD93D}">
      <dsp:nvSpPr>
        <dsp:cNvPr id="0" name=""/>
        <dsp:cNvSpPr/>
      </dsp:nvSpPr>
      <dsp:spPr>
        <a:xfrm>
          <a:off x="0" y="827773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KPI-3  Attrition Rate Vs Monthly Income Status</a:t>
          </a:r>
          <a:endParaRPr lang="en-IN" sz="1500" b="1" kern="1200" dirty="0"/>
        </a:p>
      </dsp:txBody>
      <dsp:txXfrm>
        <a:off x="17134" y="844907"/>
        <a:ext cx="10925279" cy="316732"/>
      </dsp:txXfrm>
    </dsp:sp>
    <dsp:sp modelId="{95B3C87F-8DCB-4737-8E4F-9D68CA60F3C4}">
      <dsp:nvSpPr>
        <dsp:cNvPr id="0" name=""/>
        <dsp:cNvSpPr/>
      </dsp:nvSpPr>
      <dsp:spPr>
        <a:xfrm>
          <a:off x="0" y="1221973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KPI-4  Average Working Years For Each Department</a:t>
          </a:r>
          <a:endParaRPr lang="en-IN" sz="1500" b="1" kern="1200" dirty="0"/>
        </a:p>
      </dsp:txBody>
      <dsp:txXfrm>
        <a:off x="17134" y="1239107"/>
        <a:ext cx="10925279" cy="316732"/>
      </dsp:txXfrm>
    </dsp:sp>
    <dsp:sp modelId="{82D8F433-F333-4D29-8C2B-A923BFFEE6BD}">
      <dsp:nvSpPr>
        <dsp:cNvPr id="0" name=""/>
        <dsp:cNvSpPr/>
      </dsp:nvSpPr>
      <dsp:spPr>
        <a:xfrm>
          <a:off x="0" y="1616173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KPI-5  Job Role Vs Work Life Balance</a:t>
          </a:r>
          <a:endParaRPr lang="en-IN" sz="1500" b="1" kern="1200" dirty="0"/>
        </a:p>
      </dsp:txBody>
      <dsp:txXfrm>
        <a:off x="17134" y="1633307"/>
        <a:ext cx="10925279" cy="316732"/>
      </dsp:txXfrm>
    </dsp:sp>
    <dsp:sp modelId="{9054E69E-0B1F-4E8D-BC3C-4A63EB493E5E}">
      <dsp:nvSpPr>
        <dsp:cNvPr id="0" name=""/>
        <dsp:cNvSpPr/>
      </dsp:nvSpPr>
      <dsp:spPr>
        <a:xfrm>
          <a:off x="0" y="2010373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KPI-6 Attrition Rate Vs Year since last Promotion Relation</a:t>
          </a:r>
          <a:endParaRPr lang="en-IN" sz="1500" b="1" kern="1200" dirty="0"/>
        </a:p>
      </dsp:txBody>
      <dsp:txXfrm>
        <a:off x="17134" y="2027507"/>
        <a:ext cx="10925279" cy="316732"/>
      </dsp:txXfrm>
    </dsp:sp>
    <dsp:sp modelId="{574A2EDF-5064-41F0-BDC9-3FB2E2C75242}">
      <dsp:nvSpPr>
        <dsp:cNvPr id="0" name=""/>
        <dsp:cNvSpPr/>
      </dsp:nvSpPr>
      <dsp:spPr>
        <a:xfrm>
          <a:off x="0" y="2404573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KPI-7 Total Attrition by Employee Education</a:t>
          </a:r>
          <a:endParaRPr lang="en-IN" sz="1500" b="1" kern="1200" dirty="0"/>
        </a:p>
      </dsp:txBody>
      <dsp:txXfrm>
        <a:off x="17134" y="2421707"/>
        <a:ext cx="10925279" cy="316732"/>
      </dsp:txXfrm>
    </dsp:sp>
    <dsp:sp modelId="{44C6F217-2E6C-4AC1-AF3B-BAA5C4AB6ADC}">
      <dsp:nvSpPr>
        <dsp:cNvPr id="0" name=""/>
        <dsp:cNvSpPr/>
      </dsp:nvSpPr>
      <dsp:spPr>
        <a:xfrm>
          <a:off x="0" y="2798773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KPI-8  Marital Status and Monthly Income Vs Attrition Rate</a:t>
          </a:r>
          <a:endParaRPr lang="en-IN" sz="1500" b="1" kern="1200" dirty="0"/>
        </a:p>
      </dsp:txBody>
      <dsp:txXfrm>
        <a:off x="17134" y="2815907"/>
        <a:ext cx="10925279" cy="316732"/>
      </dsp:txXfrm>
    </dsp:sp>
    <dsp:sp modelId="{EBEEE6E7-3AE8-4753-96A4-3C37B073FDDD}">
      <dsp:nvSpPr>
        <dsp:cNvPr id="0" name=""/>
        <dsp:cNvSpPr/>
      </dsp:nvSpPr>
      <dsp:spPr>
        <a:xfrm>
          <a:off x="0" y="3192973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Dashboard Insights :-</a:t>
          </a:r>
          <a:endParaRPr lang="en-IN" sz="1500" b="1" kern="1200" dirty="0"/>
        </a:p>
      </dsp:txBody>
      <dsp:txXfrm>
        <a:off x="17134" y="3210107"/>
        <a:ext cx="10925279" cy="316732"/>
      </dsp:txXfrm>
    </dsp:sp>
    <dsp:sp modelId="{03C3431C-5555-4F7C-A5D8-F7EBC1C93326}">
      <dsp:nvSpPr>
        <dsp:cNvPr id="0" name=""/>
        <dsp:cNvSpPr/>
      </dsp:nvSpPr>
      <dsp:spPr>
        <a:xfrm>
          <a:off x="0" y="3587173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                                 </a:t>
          </a:r>
          <a:r>
            <a:rPr lang="en-GB" sz="1500" b="1" kern="1200" dirty="0"/>
            <a:t>Excel</a:t>
          </a:r>
          <a:endParaRPr lang="en-IN" sz="1500" b="1" kern="1200" dirty="0"/>
        </a:p>
      </dsp:txBody>
      <dsp:txXfrm>
        <a:off x="17134" y="3604307"/>
        <a:ext cx="10925279" cy="316732"/>
      </dsp:txXfrm>
    </dsp:sp>
    <dsp:sp modelId="{F411A2F0-E44D-4C7A-8BBF-AC76CE3E42BB}">
      <dsp:nvSpPr>
        <dsp:cNvPr id="0" name=""/>
        <dsp:cNvSpPr/>
      </dsp:nvSpPr>
      <dsp:spPr>
        <a:xfrm>
          <a:off x="0" y="3981373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                                 </a:t>
          </a:r>
          <a:r>
            <a:rPr lang="en-GB" sz="1500" b="1" kern="1200" dirty="0"/>
            <a:t>Power BI  </a:t>
          </a:r>
          <a:endParaRPr lang="en-IN" sz="1500" b="1" kern="1200" dirty="0"/>
        </a:p>
      </dsp:txBody>
      <dsp:txXfrm>
        <a:off x="17134" y="3998507"/>
        <a:ext cx="10925279" cy="316732"/>
      </dsp:txXfrm>
    </dsp:sp>
    <dsp:sp modelId="{1106C057-974F-4CF8-870F-DBAD13C24F52}">
      <dsp:nvSpPr>
        <dsp:cNvPr id="0" name=""/>
        <dsp:cNvSpPr/>
      </dsp:nvSpPr>
      <dsp:spPr>
        <a:xfrm>
          <a:off x="0" y="4375573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                                 </a:t>
          </a:r>
          <a:r>
            <a:rPr lang="en-GB" sz="1500" b="1" kern="1200" dirty="0"/>
            <a:t>Tableau</a:t>
          </a:r>
          <a:endParaRPr lang="en-IN" sz="1500" b="1" kern="1200" dirty="0"/>
        </a:p>
      </dsp:txBody>
      <dsp:txXfrm>
        <a:off x="17134" y="4392707"/>
        <a:ext cx="10925279" cy="316732"/>
      </dsp:txXfrm>
    </dsp:sp>
    <dsp:sp modelId="{15E7095A-C937-4C75-B537-E270C0B3DCE8}">
      <dsp:nvSpPr>
        <dsp:cNvPr id="0" name=""/>
        <dsp:cNvSpPr/>
      </dsp:nvSpPr>
      <dsp:spPr>
        <a:xfrm>
          <a:off x="0" y="4769773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                                 </a:t>
          </a:r>
          <a:r>
            <a:rPr lang="en-GB" sz="1500" b="1" kern="1200" dirty="0"/>
            <a:t>SQL Queries</a:t>
          </a:r>
          <a:endParaRPr lang="en-IN" sz="1500" b="1" kern="1200" dirty="0"/>
        </a:p>
      </dsp:txBody>
      <dsp:txXfrm>
        <a:off x="17134" y="4786907"/>
        <a:ext cx="10925279" cy="316732"/>
      </dsp:txXfrm>
    </dsp:sp>
    <dsp:sp modelId="{CD10C5FD-28EB-411A-AE6D-2CC4D83636F5}">
      <dsp:nvSpPr>
        <dsp:cNvPr id="0" name=""/>
        <dsp:cNvSpPr/>
      </dsp:nvSpPr>
      <dsp:spPr>
        <a:xfrm>
          <a:off x="0" y="5163973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Internship Challenges &amp; Solutions</a:t>
          </a:r>
          <a:endParaRPr lang="en-IN" sz="1500" b="1" kern="1200" dirty="0"/>
        </a:p>
      </dsp:txBody>
      <dsp:txXfrm>
        <a:off x="17134" y="5181107"/>
        <a:ext cx="10925279" cy="316732"/>
      </dsp:txXfrm>
    </dsp:sp>
    <dsp:sp modelId="{C582CE8E-A842-4C5D-95BC-E6A9A3BAB375}">
      <dsp:nvSpPr>
        <dsp:cNvPr id="0" name=""/>
        <dsp:cNvSpPr/>
      </dsp:nvSpPr>
      <dsp:spPr>
        <a:xfrm>
          <a:off x="0" y="5532231"/>
          <a:ext cx="10959547" cy="3510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lt1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Conclusion</a:t>
          </a:r>
          <a:endParaRPr lang="en-IN" sz="1500" b="1" kern="1200" dirty="0"/>
        </a:p>
      </dsp:txBody>
      <dsp:txXfrm>
        <a:off x="17134" y="5549365"/>
        <a:ext cx="10925279" cy="3167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C87E6F-6118-456C-AAB9-8DCF14E8EAB5}">
      <dsp:nvSpPr>
        <dsp:cNvPr id="0" name=""/>
        <dsp:cNvSpPr/>
      </dsp:nvSpPr>
      <dsp:spPr>
        <a:xfrm>
          <a:off x="-3" y="0"/>
          <a:ext cx="6135763" cy="2672859"/>
        </a:xfrm>
        <a:prstGeom prst="ellipse">
          <a:avLst/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400" kern="1200" dirty="0"/>
            <a:t>THANK YOU</a:t>
          </a:r>
          <a:endParaRPr lang="en-IN" sz="6400" kern="1200" dirty="0"/>
        </a:p>
      </dsp:txBody>
      <dsp:txXfrm>
        <a:off x="898559" y="391431"/>
        <a:ext cx="4338639" cy="18899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160EA64-D806-43AC-9DF2-F8C432F32B4C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94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250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275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468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8909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83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15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893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6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8694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12217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479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0178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056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48009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158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397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3287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4797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5409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2032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3726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7483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31264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5725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2657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30917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1616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9651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9591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0984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7118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621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68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160EA64-D806-43AC-9DF2-F8C432F32B4C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36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43F6D9C-FC7B-4C7E-86AA-59AC718CCEC5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ADD7AE0-58B4-4200-9B1B-697896C7C88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561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2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060E2-509B-4CD1-B5B3-392E2AE26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4243" y="1232452"/>
            <a:ext cx="9107557" cy="2095964"/>
          </a:xfrm>
        </p:spPr>
        <p:txBody>
          <a:bodyPr>
            <a:normAutofit/>
          </a:bodyPr>
          <a:lstStyle/>
          <a:p>
            <a:r>
              <a:rPr lang="en-GB" sz="5400" dirty="0">
                <a:latin typeface="Cooper Black" panose="0208090404030B020404" pitchFamily="18" charset="0"/>
              </a:rPr>
              <a:t>HR ANALYTICS</a:t>
            </a:r>
            <a:endParaRPr lang="en-IN" sz="5400" dirty="0">
              <a:latin typeface="Cooper Black" panose="0208090404030B0204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7F838-DAEC-46B9-B9FB-DD873D398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0188" y="3672972"/>
            <a:ext cx="6801612" cy="620732"/>
          </a:xfrm>
        </p:spPr>
        <p:txBody>
          <a:bodyPr>
            <a:normAutofit/>
          </a:bodyPr>
          <a:lstStyle/>
          <a:p>
            <a:r>
              <a:rPr lang="en-GB" sz="3200" b="1" dirty="0"/>
              <a:t>Group No - 1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684810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5D24-8A47-406E-88AB-5663E28E7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524000"/>
            <a:ext cx="4469294" cy="861391"/>
          </a:xfrm>
        </p:spPr>
        <p:txBody>
          <a:bodyPr>
            <a:normAutofit/>
          </a:bodyPr>
          <a:lstStyle/>
          <a:p>
            <a:r>
              <a:rPr lang="en-GB" b="1" dirty="0"/>
              <a:t>Team Members</a:t>
            </a: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4C4E2B-0D90-40C7-B334-B2D6E4E652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2934976"/>
              </p:ext>
            </p:extLst>
          </p:nvPr>
        </p:nvGraphicFramePr>
        <p:xfrm>
          <a:off x="695739" y="2398643"/>
          <a:ext cx="10800522" cy="3565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497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7644240-12A6-45DF-9D16-357C2BE70F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1577481"/>
              </p:ext>
            </p:extLst>
          </p:nvPr>
        </p:nvGraphicFramePr>
        <p:xfrm>
          <a:off x="616226" y="454726"/>
          <a:ext cx="10959548" cy="5948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E4C7FC-530C-4831-B8F7-B0E7CF08B829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INDEX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490742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3CD45-763B-4DCB-B5B5-65E7998FF98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186612" y="83977"/>
            <a:ext cx="9183688" cy="434975"/>
          </a:xfrm>
        </p:spPr>
        <p:txBody>
          <a:bodyPr>
            <a:noAutofit/>
          </a:bodyPr>
          <a:lstStyle/>
          <a:p>
            <a:r>
              <a:rPr lang="en-GB" sz="2800" b="1" dirty="0"/>
              <a:t>KPI-1  Average Attrition Rate For All Departments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C8241-5EB3-44FA-8156-676B720C316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557463"/>
            <a:ext cx="9601200" cy="3317875"/>
          </a:xfrm>
        </p:spPr>
        <p:txBody>
          <a:bodyPr/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dirty="0">
                <a:solidFill>
                  <a:prstClr val="white"/>
                </a:solidFill>
              </a:rPr>
              <a:t>Narmadha </a:t>
            </a:r>
          </a:p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dirty="0">
                <a:solidFill>
                  <a:prstClr val="white"/>
                </a:solidFill>
              </a:rPr>
              <a:t>Radhakrishnan</a:t>
            </a:r>
            <a:endParaRPr lang="en-IN" dirty="0">
              <a:solidFill>
                <a:prstClr val="white"/>
              </a:solidFill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053E04-5285-4690-82E8-948BDFA09C83}"/>
              </a:ext>
            </a:extLst>
          </p:cNvPr>
          <p:cNvSpPr txBox="1"/>
          <p:nvPr/>
        </p:nvSpPr>
        <p:spPr>
          <a:xfrm>
            <a:off x="1094117" y="1212818"/>
            <a:ext cx="87590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Observations 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Overall attrition is around </a:t>
            </a:r>
            <a:r>
              <a:rPr lang="en-GB" sz="2000" b="1" dirty="0"/>
              <a:t>50%</a:t>
            </a:r>
            <a:r>
              <a:rPr lang="en-GB" sz="2000" dirty="0"/>
              <a:t> across departments.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R&amp;D has the highest attrition </a:t>
            </a:r>
            <a:r>
              <a:rPr lang="en-GB" sz="2000" b="1" dirty="0"/>
              <a:t>51.21%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Hardware has the lowest </a:t>
            </a:r>
            <a:r>
              <a:rPr lang="en-GB" sz="2000" b="1" dirty="0"/>
              <a:t>49.44%.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Variation between departments is minimal.</a:t>
            </a:r>
          </a:p>
          <a:p>
            <a:endParaRPr lang="en-GB" sz="2400" b="1" dirty="0"/>
          </a:p>
          <a:p>
            <a:endParaRPr lang="en-GB" sz="2400" b="1" dirty="0"/>
          </a:p>
          <a:p>
            <a:r>
              <a:rPr lang="en-GB" sz="2400" b="1" dirty="0"/>
              <a:t> </a:t>
            </a:r>
            <a:r>
              <a:rPr lang="en-GB" sz="2800" b="1" dirty="0"/>
              <a:t>Findings 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Attrition appears to be an organization-wide issue rather than department-specific.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Slightly higher turnover in R&amp;D may impact innovation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4005742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423682-3206-45D0-8DA8-248FFF677CD0}"/>
              </a:ext>
            </a:extLst>
          </p:cNvPr>
          <p:cNvSpPr txBox="1"/>
          <p:nvPr/>
        </p:nvSpPr>
        <p:spPr>
          <a:xfrm>
            <a:off x="485192" y="0"/>
            <a:ext cx="10946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KPI-2  Average Hourly Rate For Male Research Scientist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01113D-D65B-4876-A41B-2E224BC2C4BB}"/>
              </a:ext>
            </a:extLst>
          </p:cNvPr>
          <p:cNvSpPr txBox="1"/>
          <p:nvPr/>
        </p:nvSpPr>
        <p:spPr>
          <a:xfrm>
            <a:off x="1189314" y="1182554"/>
            <a:ext cx="108270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800" b="1" dirty="0">
                <a:solidFill>
                  <a:prstClr val="black"/>
                </a:solidFill>
              </a:rPr>
              <a:t>Observations:-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prstClr val="black"/>
                </a:solidFill>
              </a:rPr>
              <a:t>The average hourly rate is </a:t>
            </a:r>
            <a:r>
              <a:rPr lang="en-GB" sz="2400" b="1" dirty="0">
                <a:solidFill>
                  <a:prstClr val="black"/>
                </a:solidFill>
              </a:rPr>
              <a:t>114.45</a:t>
            </a:r>
            <a:endParaRPr lang="en-GB" sz="2000" b="1" dirty="0">
              <a:solidFill>
                <a:prstClr val="black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prstClr val="black"/>
                </a:solidFill>
              </a:rPr>
              <a:t>Male Research Scientists are part of the R&amp;D department.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prstClr val="black"/>
                </a:solidFill>
              </a:rPr>
              <a:t>R&amp;D shows relatively higher attrition </a:t>
            </a:r>
            <a:r>
              <a:rPr lang="en-GB" sz="2400" b="1" dirty="0"/>
              <a:t>51.21%</a:t>
            </a:r>
            <a:r>
              <a:rPr lang="en-GB" sz="2800" b="1" dirty="0"/>
              <a:t>.</a:t>
            </a:r>
            <a:r>
              <a:rPr lang="en-GB" sz="2400" b="1" dirty="0">
                <a:solidFill>
                  <a:prstClr val="black"/>
                </a:solidFill>
              </a:rPr>
              <a:t> </a:t>
            </a:r>
            <a:endParaRPr lang="en-GB" sz="2000" b="1" dirty="0">
              <a:solidFill>
                <a:prstClr val="black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000" b="1" dirty="0">
              <a:solidFill>
                <a:prstClr val="black"/>
              </a:solidFill>
            </a:endParaRPr>
          </a:p>
          <a:p>
            <a:pPr lvl="0"/>
            <a:endParaRPr lang="en-GB" sz="2800" b="1" dirty="0">
              <a:solidFill>
                <a:prstClr val="black"/>
              </a:solidFill>
            </a:endParaRPr>
          </a:p>
          <a:p>
            <a:pPr lvl="0"/>
            <a:r>
              <a:rPr lang="en-GB" sz="2800" b="1" dirty="0">
                <a:solidFill>
                  <a:prstClr val="black"/>
                </a:solidFill>
              </a:rPr>
              <a:t>Findings:-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prstClr val="black"/>
                </a:solidFill>
              </a:rPr>
              <a:t>Compensation is competitive and well-structured.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prstClr val="black"/>
                </a:solidFill>
              </a:rPr>
              <a:t>However, higher attrition suggests salary alone does not ensure retention.</a:t>
            </a:r>
            <a:endParaRPr lang="en-GB" sz="1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612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3BFC3F-B8A6-23A0-2739-8294A2224471}"/>
              </a:ext>
            </a:extLst>
          </p:cNvPr>
          <p:cNvSpPr txBox="1"/>
          <p:nvPr/>
        </p:nvSpPr>
        <p:spPr>
          <a:xfrm>
            <a:off x="457198" y="0"/>
            <a:ext cx="7921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KPI–3  Attrition Rate Vs Monthly Income Status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00FA3-0D33-7223-C64E-4CD368E0B626}"/>
              </a:ext>
            </a:extLst>
          </p:cNvPr>
          <p:cNvSpPr txBox="1"/>
          <p:nvPr/>
        </p:nvSpPr>
        <p:spPr>
          <a:xfrm>
            <a:off x="1268962" y="1122057"/>
            <a:ext cx="7296539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Observations :-</a:t>
            </a:r>
            <a:br>
              <a:rPr lang="en-US" sz="2000" dirty="0"/>
            </a:br>
            <a:r>
              <a:rPr lang="en-US" sz="2000" dirty="0"/>
              <a:t>• Attrition around </a:t>
            </a:r>
            <a:r>
              <a:rPr lang="en-US" sz="2400" b="1" dirty="0"/>
              <a:t>50% </a:t>
            </a:r>
            <a:r>
              <a:rPr lang="en-US" sz="2000" dirty="0"/>
              <a:t>across income groups</a:t>
            </a:r>
            <a:br>
              <a:rPr lang="en-US" sz="2000" dirty="0"/>
            </a:br>
            <a:r>
              <a:rPr lang="en-US" sz="2000" dirty="0"/>
              <a:t>• Highest in </a:t>
            </a:r>
            <a:r>
              <a:rPr lang="en-US" sz="2400" b="1" dirty="0"/>
              <a:t>50001–60000 (51.26%)</a:t>
            </a:r>
            <a:br>
              <a:rPr lang="en-US" sz="2000" dirty="0"/>
            </a:br>
            <a:r>
              <a:rPr lang="en-US" sz="2000" dirty="0"/>
              <a:t>• Lowest in </a:t>
            </a:r>
            <a:r>
              <a:rPr lang="en-US" sz="2400" b="1" dirty="0"/>
              <a:t>30001–40000 (49.80%)</a:t>
            </a:r>
            <a:br>
              <a:rPr lang="en-US" sz="2000" dirty="0"/>
            </a:br>
            <a:r>
              <a:rPr lang="en-US" sz="2000" dirty="0"/>
              <a:t>• Variation between income groups is minimal</a:t>
            </a:r>
            <a:br>
              <a:rPr lang="en-US" sz="2000" dirty="0"/>
            </a:br>
            <a:r>
              <a:rPr lang="en-US" sz="2000" dirty="0"/>
              <a:t>• Salary difference does not strongly change attrition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800" b="1" dirty="0"/>
              <a:t> Findings :-</a:t>
            </a:r>
          </a:p>
          <a:p>
            <a:r>
              <a:rPr lang="en-US" sz="2000" dirty="0"/>
              <a:t>• Attrition is not salary-dependent</a:t>
            </a:r>
            <a:br>
              <a:rPr lang="en-US" sz="2000" dirty="0"/>
            </a:br>
            <a:r>
              <a:rPr lang="en-US" sz="2000" dirty="0"/>
              <a:t>• High-income employees also leaving</a:t>
            </a:r>
            <a:br>
              <a:rPr lang="en-US" sz="2000" dirty="0"/>
            </a:br>
            <a:r>
              <a:rPr lang="en-US" sz="2000" dirty="0"/>
              <a:t>• Other factors influencing turnover</a:t>
            </a:r>
          </a:p>
        </p:txBody>
      </p:sp>
    </p:spTree>
    <p:extLst>
      <p:ext uri="{BB962C8B-B14F-4D97-AF65-F5344CB8AC3E}">
        <p14:creationId xmlns:p14="http://schemas.microsoft.com/office/powerpoint/2010/main" val="883435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341673-5BE7-BEDF-5AFE-A786CBC7C832}"/>
              </a:ext>
            </a:extLst>
          </p:cNvPr>
          <p:cNvSpPr txBox="1"/>
          <p:nvPr/>
        </p:nvSpPr>
        <p:spPr>
          <a:xfrm>
            <a:off x="1052804" y="951725"/>
            <a:ext cx="975049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Observations :-</a:t>
            </a:r>
          </a:p>
          <a:p>
            <a:r>
              <a:rPr lang="en-US" sz="2000" dirty="0"/>
              <a:t>• Average working years </a:t>
            </a:r>
            <a:r>
              <a:rPr lang="en-US" sz="2400" b="1" dirty="0"/>
              <a:t>≈ 20.5 </a:t>
            </a:r>
            <a:r>
              <a:rPr lang="en-US" sz="2000" dirty="0"/>
              <a:t>years</a:t>
            </a:r>
            <a:br>
              <a:rPr lang="en-US" sz="2000" dirty="0"/>
            </a:br>
            <a:r>
              <a:rPr lang="en-US" sz="2000" dirty="0"/>
              <a:t>• Software has highest average tenure </a:t>
            </a:r>
            <a:r>
              <a:rPr lang="en-US" sz="2400" b="1" dirty="0"/>
              <a:t>(20.65)</a:t>
            </a:r>
            <a:br>
              <a:rPr lang="en-US" sz="2000" dirty="0"/>
            </a:br>
            <a:r>
              <a:rPr lang="en-US" sz="2000" dirty="0"/>
              <a:t>• R&amp;D has lowest average tenure </a:t>
            </a:r>
            <a:r>
              <a:rPr lang="en-US" sz="2400" b="1" dirty="0"/>
              <a:t>(20.30)</a:t>
            </a:r>
            <a:br>
              <a:rPr lang="en-US" sz="2000" dirty="0"/>
            </a:br>
            <a:r>
              <a:rPr lang="en-US" sz="2000" dirty="0"/>
              <a:t>• Very small variation across departments</a:t>
            </a:r>
            <a:br>
              <a:rPr lang="en-US" sz="2000" dirty="0"/>
            </a:br>
            <a:r>
              <a:rPr lang="en-US" sz="2000" dirty="0"/>
              <a:t>• Workforce experience is stable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800" b="1" dirty="0"/>
              <a:t> Findings :-</a:t>
            </a:r>
          </a:p>
          <a:p>
            <a:r>
              <a:rPr lang="en-US" sz="2000" dirty="0"/>
              <a:t>• Employees are highly experienced across departments</a:t>
            </a:r>
            <a:br>
              <a:rPr lang="en-US" sz="2000" dirty="0"/>
            </a:br>
            <a:r>
              <a:rPr lang="en-US" sz="2000" dirty="0"/>
              <a:t>• No major tenure gap between departments</a:t>
            </a:r>
            <a:br>
              <a:rPr lang="en-US" sz="2000" dirty="0"/>
            </a:br>
            <a:r>
              <a:rPr lang="en-US" sz="2000" dirty="0"/>
              <a:t>• Slightly lower tenure in R&amp;D may link to higher attrition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14EB0-A596-EA20-CB10-27B2507FB831}"/>
              </a:ext>
            </a:extLst>
          </p:cNvPr>
          <p:cNvSpPr txBox="1"/>
          <p:nvPr/>
        </p:nvSpPr>
        <p:spPr>
          <a:xfrm>
            <a:off x="503854" y="0"/>
            <a:ext cx="9924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KPI-4  Average Working Years For Each Department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324220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4DCA02-5806-33DC-AA90-992200BE41D1}"/>
              </a:ext>
            </a:extLst>
          </p:cNvPr>
          <p:cNvSpPr txBox="1"/>
          <p:nvPr/>
        </p:nvSpPr>
        <p:spPr>
          <a:xfrm>
            <a:off x="578498" y="0"/>
            <a:ext cx="9004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KPI-5  Job Role Vs Work Life Balance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E5721F-C40E-FBF2-E35E-4BDAF141DD53}"/>
              </a:ext>
            </a:extLst>
          </p:cNvPr>
          <p:cNvSpPr txBox="1"/>
          <p:nvPr/>
        </p:nvSpPr>
        <p:spPr>
          <a:xfrm>
            <a:off x="1147665" y="1156671"/>
            <a:ext cx="933061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2800" b="1" dirty="0"/>
              <a:t>Observations :-</a:t>
            </a:r>
          </a:p>
          <a:p>
            <a:r>
              <a:rPr lang="en-US" sz="2000" dirty="0"/>
              <a:t>• Average score </a:t>
            </a:r>
            <a:r>
              <a:rPr lang="en-US" sz="2400" b="1" dirty="0"/>
              <a:t>≈ 2.50</a:t>
            </a:r>
            <a:br>
              <a:rPr lang="en-US" sz="2000" dirty="0"/>
            </a:br>
            <a:r>
              <a:rPr lang="en-US" sz="2000" dirty="0"/>
              <a:t>• Research Scientist / Developer / Healthcare Rep </a:t>
            </a:r>
            <a:r>
              <a:rPr lang="en-US" sz="2400" b="1" dirty="0"/>
              <a:t>– 2.51 (Highest</a:t>
            </a:r>
            <a:r>
              <a:rPr lang="en-US" sz="2000" b="1" dirty="0"/>
              <a:t>)</a:t>
            </a:r>
            <a:br>
              <a:rPr lang="en-US" sz="2000" dirty="0"/>
            </a:br>
            <a:r>
              <a:rPr lang="en-US" sz="2000" dirty="0"/>
              <a:t>• Research Director / Laboratory Technician </a:t>
            </a:r>
            <a:r>
              <a:rPr lang="en-US" sz="2400" b="1" dirty="0"/>
              <a:t>– 2.49 (Lowest)</a:t>
            </a:r>
            <a:br>
              <a:rPr lang="en-US" sz="2000" dirty="0"/>
            </a:br>
            <a:r>
              <a:rPr lang="en-US" sz="2000" dirty="0"/>
              <a:t>• Very small variation </a:t>
            </a:r>
            <a:r>
              <a:rPr lang="en-US" sz="2400" b="1" dirty="0"/>
              <a:t>(~0.02)</a:t>
            </a:r>
          </a:p>
          <a:p>
            <a:endParaRPr lang="en-US" dirty="0"/>
          </a:p>
          <a:p>
            <a:r>
              <a:rPr lang="en-US" b="1" dirty="0"/>
              <a:t> </a:t>
            </a:r>
            <a:r>
              <a:rPr lang="en-US" sz="2800" b="1" dirty="0"/>
              <a:t>Findings :-</a:t>
            </a:r>
          </a:p>
          <a:p>
            <a:r>
              <a:rPr lang="en-US" sz="2000" dirty="0"/>
              <a:t>• Work-life balance similar across roles</a:t>
            </a:r>
            <a:br>
              <a:rPr lang="en-US" sz="2000" dirty="0"/>
            </a:br>
            <a:r>
              <a:rPr lang="en-US" sz="2000" dirty="0"/>
              <a:t>• No major role-specific imbalance</a:t>
            </a:r>
            <a:br>
              <a:rPr lang="en-US" sz="2000" dirty="0"/>
            </a:br>
            <a:r>
              <a:rPr lang="en-US" sz="2000" dirty="0"/>
              <a:t>• Slightly lower balance in Sales roles</a:t>
            </a:r>
            <a:br>
              <a:rPr lang="en-US" sz="2000" dirty="0"/>
            </a:br>
            <a:r>
              <a:rPr lang="en-US" sz="2000" dirty="0"/>
              <a:t>• Overall moderate satisfaction level</a:t>
            </a:r>
            <a:br>
              <a:rPr lang="en-US" sz="20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404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4DCA02-5806-33DC-AA90-992200BE41D1}"/>
              </a:ext>
            </a:extLst>
          </p:cNvPr>
          <p:cNvSpPr txBox="1"/>
          <p:nvPr/>
        </p:nvSpPr>
        <p:spPr>
          <a:xfrm>
            <a:off x="578498" y="0"/>
            <a:ext cx="9157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KPI-6  Attrition Rate Vs Year Since last Promotion relation  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E5721F-C40E-FBF2-E35E-4BDAF141DD53}"/>
              </a:ext>
            </a:extLst>
          </p:cNvPr>
          <p:cNvSpPr txBox="1"/>
          <p:nvPr/>
        </p:nvSpPr>
        <p:spPr>
          <a:xfrm>
            <a:off x="1147665" y="1156671"/>
            <a:ext cx="933061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2800" b="1" dirty="0"/>
              <a:t>Observations :-</a:t>
            </a:r>
          </a:p>
          <a:p>
            <a:r>
              <a:rPr lang="en-US" sz="2000" dirty="0"/>
              <a:t>• 1–10 years since last promotion → </a:t>
            </a:r>
            <a:r>
              <a:rPr lang="en-US" sz="2000" b="1" dirty="0"/>
              <a:t>50.24%</a:t>
            </a:r>
            <a:br>
              <a:rPr lang="en-US" sz="2000" dirty="0"/>
            </a:br>
            <a:r>
              <a:rPr lang="en-US" sz="2000" dirty="0"/>
              <a:t>• 11–20 years → </a:t>
            </a:r>
            <a:r>
              <a:rPr lang="en-US" sz="2000" b="1" dirty="0"/>
              <a:t>49.84%</a:t>
            </a:r>
            <a:r>
              <a:rPr lang="en-US" sz="2000" dirty="0"/>
              <a:t> </a:t>
            </a:r>
            <a:r>
              <a:rPr lang="en-US" sz="2400" b="1" dirty="0"/>
              <a:t>(Lowest attrition)</a:t>
            </a:r>
            <a:br>
              <a:rPr lang="en-US" sz="2000" dirty="0"/>
            </a:br>
            <a:r>
              <a:rPr lang="en-US" sz="2000" dirty="0"/>
              <a:t>• 21–30 years → </a:t>
            </a:r>
            <a:r>
              <a:rPr lang="en-US" sz="2000" b="1" dirty="0"/>
              <a:t>50.96%</a:t>
            </a:r>
            <a:r>
              <a:rPr lang="en-US" sz="2000" dirty="0"/>
              <a:t> </a:t>
            </a:r>
            <a:r>
              <a:rPr lang="en-US" sz="2400" b="1" dirty="0"/>
              <a:t>(Highest attrition)</a:t>
            </a:r>
            <a:br>
              <a:rPr lang="en-US" sz="2000" dirty="0"/>
            </a:br>
            <a:r>
              <a:rPr lang="en-US" sz="2000" dirty="0"/>
              <a:t>• 31–40 years → </a:t>
            </a:r>
            <a:r>
              <a:rPr lang="en-US" sz="2000" b="1" dirty="0"/>
              <a:t>50.90%</a:t>
            </a:r>
          </a:p>
          <a:p>
            <a:r>
              <a:rPr lang="en-US" sz="2000" dirty="0"/>
              <a:t>• Overall variation is </a:t>
            </a:r>
            <a:r>
              <a:rPr lang="en-US" sz="2000" b="1" dirty="0"/>
              <a:t>very small </a:t>
            </a:r>
            <a:r>
              <a:rPr lang="en-US" sz="2400" b="1" dirty="0"/>
              <a:t>(~1% range)</a:t>
            </a:r>
            <a:endParaRPr lang="en-US" sz="2400" dirty="0"/>
          </a:p>
          <a:p>
            <a:r>
              <a:rPr lang="en-US" b="1" dirty="0"/>
              <a:t> </a:t>
            </a:r>
            <a:r>
              <a:rPr lang="en-US" sz="2800" b="1" dirty="0"/>
              <a:t>Findings :-</a:t>
            </a:r>
          </a:p>
          <a:p>
            <a:r>
              <a:rPr lang="en-US" sz="2000" dirty="0"/>
              <a:t>• Attrition slightly increases when employees wait longer (21+ years) for promotion</a:t>
            </a:r>
            <a:br>
              <a:rPr lang="en-US" sz="2000" dirty="0"/>
            </a:br>
            <a:r>
              <a:rPr lang="en-US" sz="2000" dirty="0"/>
              <a:t>• Employees in 11–20 years range show relatively lower attrition</a:t>
            </a:r>
            <a:br>
              <a:rPr lang="en-US" sz="2000" dirty="0"/>
            </a:br>
            <a:r>
              <a:rPr lang="en-US" sz="2000" dirty="0"/>
              <a:t>• However, overall impact is moderate since variation is minimal</a:t>
            </a:r>
            <a:br>
              <a:rPr lang="en-US" sz="2000" dirty="0"/>
            </a:br>
            <a:r>
              <a:rPr lang="en-US" sz="2000" dirty="0"/>
              <a:t>• Promotion policy improvement could help reduce attrition in long-tenure employees</a:t>
            </a:r>
            <a:br>
              <a:rPr lang="en-US" sz="20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3132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4DCA02-5806-33DC-AA90-992200BE41D1}"/>
              </a:ext>
            </a:extLst>
          </p:cNvPr>
          <p:cNvSpPr txBox="1"/>
          <p:nvPr/>
        </p:nvSpPr>
        <p:spPr>
          <a:xfrm>
            <a:off x="578498" y="0"/>
            <a:ext cx="9004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KPI-7  Total Attrition by Employee Education 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E5721F-C40E-FBF2-E35E-4BDAF141DD53}"/>
              </a:ext>
            </a:extLst>
          </p:cNvPr>
          <p:cNvSpPr txBox="1"/>
          <p:nvPr/>
        </p:nvSpPr>
        <p:spPr>
          <a:xfrm>
            <a:off x="1137274" y="1052762"/>
            <a:ext cx="933061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2800" b="1" dirty="0"/>
              <a:t>Observations :-</a:t>
            </a:r>
          </a:p>
          <a:p>
            <a:r>
              <a:rPr lang="en-US" sz="2000" dirty="0"/>
              <a:t>• Medical → </a:t>
            </a:r>
            <a:r>
              <a:rPr lang="en-US" sz="2000" b="1" dirty="0"/>
              <a:t>50.81%</a:t>
            </a:r>
            <a:r>
              <a:rPr lang="en-US" sz="2000" dirty="0"/>
              <a:t> </a:t>
            </a:r>
            <a:r>
              <a:rPr lang="en-US" sz="2400" b="1" dirty="0"/>
              <a:t>(Highest)</a:t>
            </a:r>
            <a:br>
              <a:rPr lang="en-US" sz="2000" dirty="0"/>
            </a:br>
            <a:r>
              <a:rPr lang="en-US" sz="2000" dirty="0"/>
              <a:t>• Other → </a:t>
            </a:r>
            <a:r>
              <a:rPr lang="en-US" sz="2000" b="1" dirty="0"/>
              <a:t>50.62%</a:t>
            </a:r>
            <a:br>
              <a:rPr lang="en-US" sz="2000" dirty="0"/>
            </a:br>
            <a:r>
              <a:rPr lang="en-US" sz="2000" dirty="0"/>
              <a:t>• Human Resources → </a:t>
            </a:r>
            <a:r>
              <a:rPr lang="en-US" sz="2000" b="1" dirty="0"/>
              <a:t>50.28%</a:t>
            </a:r>
            <a:br>
              <a:rPr lang="en-US" sz="2000" dirty="0"/>
            </a:br>
            <a:r>
              <a:rPr lang="en-US" sz="2000" dirty="0"/>
              <a:t>• Marketing → </a:t>
            </a:r>
            <a:r>
              <a:rPr lang="en-US" sz="2000" b="1" dirty="0"/>
              <a:t>50.07%</a:t>
            </a:r>
          </a:p>
          <a:p>
            <a:r>
              <a:rPr lang="en-US" sz="2000" dirty="0"/>
              <a:t>• Technical Degree → </a:t>
            </a:r>
            <a:r>
              <a:rPr lang="en-US" sz="2000" b="1" dirty="0"/>
              <a:t>50.06%</a:t>
            </a:r>
          </a:p>
          <a:p>
            <a:r>
              <a:rPr lang="en-US" sz="2000" dirty="0"/>
              <a:t>• Life Sciences → </a:t>
            </a:r>
            <a:r>
              <a:rPr lang="en-US" sz="2000" b="1" dirty="0"/>
              <a:t>49.41%</a:t>
            </a:r>
            <a:r>
              <a:rPr lang="en-US" sz="2000" dirty="0"/>
              <a:t> </a:t>
            </a:r>
            <a:r>
              <a:rPr lang="en-US" sz="2400" b="1" dirty="0"/>
              <a:t>(Lowest)</a:t>
            </a:r>
          </a:p>
          <a:p>
            <a:r>
              <a:rPr lang="en-US" sz="2000" dirty="0"/>
              <a:t>• Overall variation is </a:t>
            </a:r>
            <a:r>
              <a:rPr lang="en-US" sz="2000" b="1" dirty="0"/>
              <a:t>very minimal (~1.4% range)</a:t>
            </a:r>
            <a:endParaRPr lang="en-US" sz="2000" dirty="0"/>
          </a:p>
          <a:p>
            <a:r>
              <a:rPr lang="en-US" b="1" dirty="0"/>
              <a:t> </a:t>
            </a:r>
            <a:r>
              <a:rPr lang="en-US" sz="2800" b="1" dirty="0"/>
              <a:t>Findings :-</a:t>
            </a:r>
          </a:p>
          <a:p>
            <a:r>
              <a:rPr lang="en-US" sz="2000" dirty="0"/>
              <a:t>• Attrition rate is almost </a:t>
            </a:r>
            <a:r>
              <a:rPr lang="en-US" sz="2000" b="1" dirty="0"/>
              <a:t>consistent across all education backgrounds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• Medical and “Other” education categories show slightly higher attrition</a:t>
            </a:r>
            <a:br>
              <a:rPr lang="en-US" sz="2000" dirty="0"/>
            </a:br>
            <a:r>
              <a:rPr lang="en-US" sz="2000" dirty="0"/>
              <a:t>• Life Sciences employees show comparatively better retention</a:t>
            </a:r>
            <a:br>
              <a:rPr lang="en-US" sz="2000" dirty="0"/>
            </a:br>
            <a:r>
              <a:rPr lang="en-US" sz="2000" dirty="0"/>
              <a:t>• Education qualification alone does not strongly impact attrition.</a:t>
            </a:r>
          </a:p>
          <a:p>
            <a:r>
              <a:rPr lang="en-US" sz="2000" dirty="0"/>
              <a:t>• Other factors like role, promotion gap, workload, or salary may have stronger influence</a:t>
            </a:r>
            <a:br>
              <a:rPr lang="en-US" sz="20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308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4DCA02-5806-33DC-AA90-992200BE41D1}"/>
              </a:ext>
            </a:extLst>
          </p:cNvPr>
          <p:cNvSpPr txBox="1"/>
          <p:nvPr/>
        </p:nvSpPr>
        <p:spPr>
          <a:xfrm>
            <a:off x="578498" y="0"/>
            <a:ext cx="10352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KPI-8  Marital Status and Monthly Income Vs Attrition Rate 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E5721F-C40E-FBF2-E35E-4BDAF141DD53}"/>
              </a:ext>
            </a:extLst>
          </p:cNvPr>
          <p:cNvSpPr txBox="1"/>
          <p:nvPr/>
        </p:nvSpPr>
        <p:spPr>
          <a:xfrm>
            <a:off x="1174172" y="1031980"/>
            <a:ext cx="10099963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2800" b="1" dirty="0"/>
              <a:t>Observations :-</a:t>
            </a:r>
          </a:p>
          <a:p>
            <a:r>
              <a:rPr lang="en-US" sz="2000" dirty="0"/>
              <a:t>• Income slabs across all marital statuses show attrition around </a:t>
            </a:r>
            <a:r>
              <a:rPr lang="en-US" sz="2000" b="1" dirty="0"/>
              <a:t>49% – 52% range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/>
              <a:t>Divorced employees</a:t>
            </a:r>
            <a:r>
              <a:rPr lang="en-US" sz="2000" dirty="0"/>
              <a:t> show slightly higher attrition at higher income slabs (peaking around </a:t>
            </a:r>
            <a:r>
              <a:rPr lang="en-US" sz="2000" b="1" dirty="0"/>
              <a:t>52.8%</a:t>
            </a:r>
            <a:r>
              <a:rPr lang="en-US" sz="2000" dirty="0"/>
              <a:t>)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/>
              <a:t>Married employees</a:t>
            </a:r>
            <a:r>
              <a:rPr lang="en-US" sz="2000" dirty="0"/>
              <a:t> show relatively stable attrition (~50–51%)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/>
              <a:t>Single employees</a:t>
            </a:r>
            <a:r>
              <a:rPr lang="en-US" sz="2000" dirty="0"/>
              <a:t> show moderate variation (~48.8% – 50.5%) • Technical Degree → </a:t>
            </a:r>
            <a:r>
              <a:rPr lang="en-US" sz="2000" b="1" dirty="0"/>
              <a:t>50.06%</a:t>
            </a:r>
          </a:p>
          <a:p>
            <a:r>
              <a:rPr lang="en-US" sz="2000" dirty="0"/>
              <a:t>• No drastic difference observed across income categories • </a:t>
            </a:r>
          </a:p>
          <a:p>
            <a:r>
              <a:rPr lang="en-US" sz="2000" dirty="0"/>
              <a:t>• Overall variation is </a:t>
            </a:r>
            <a:r>
              <a:rPr lang="en-US" sz="2000" b="1" dirty="0"/>
              <a:t>minimal (~3–4% range)</a:t>
            </a:r>
            <a:endParaRPr lang="en-US" sz="2000" dirty="0"/>
          </a:p>
          <a:p>
            <a:r>
              <a:rPr lang="en-US" b="1" dirty="0"/>
              <a:t> </a:t>
            </a:r>
            <a:r>
              <a:rPr lang="en-US" sz="2800" b="1" dirty="0"/>
              <a:t>Findings :-</a:t>
            </a:r>
          </a:p>
          <a:p>
            <a:r>
              <a:rPr lang="en-US" sz="2000" dirty="0"/>
              <a:t>• Monthly income does not show a strong impact on attrition.</a:t>
            </a:r>
            <a:br>
              <a:rPr lang="en-US" sz="2000" dirty="0"/>
            </a:br>
            <a:r>
              <a:rPr lang="en-US" sz="2000" dirty="0"/>
              <a:t>• Marital status has slight influence, especially in higher income groups</a:t>
            </a:r>
            <a:br>
              <a:rPr lang="en-US" sz="2000" dirty="0"/>
            </a:br>
            <a:r>
              <a:rPr lang="en-US" sz="2000" dirty="0"/>
              <a:t>• Divorced employees appear slightly more prone to attrition at higher salary levels</a:t>
            </a:r>
            <a:br>
              <a:rPr lang="en-US" sz="2000" dirty="0"/>
            </a:br>
            <a:r>
              <a:rPr lang="en-US" sz="2000" dirty="0"/>
              <a:t>• Education qualification alone does not strongly impact attrition.</a:t>
            </a:r>
          </a:p>
          <a:p>
            <a:r>
              <a:rPr lang="en-US" sz="2000" dirty="0"/>
              <a:t>• Overall, attrition seems influenced more by organizational factors rather than income or marital</a:t>
            </a:r>
          </a:p>
          <a:p>
            <a:r>
              <a:rPr lang="en-US" sz="2000" dirty="0"/>
              <a:t> status alone</a:t>
            </a:r>
            <a:br>
              <a:rPr lang="en-US" sz="20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8214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43F2F-AB45-4822-A257-BFA0C9938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384" y="104678"/>
            <a:ext cx="9601196" cy="375614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>Excel Dashboard Screenshot</a:t>
            </a:r>
            <a:endParaRPr lang="en-IN" sz="2800" b="1" dirty="0"/>
          </a:p>
        </p:txBody>
      </p:sp>
      <p:pic>
        <p:nvPicPr>
          <p:cNvPr id="17" name="Content Placeholder 16" descr="A close-up of a graph">
            <a:extLst>
              <a:ext uri="{FF2B5EF4-FFF2-40B4-BE49-F238E27FC236}">
                <a16:creationId xmlns:a16="http://schemas.microsoft.com/office/drawing/2014/main" id="{1AA4A7C5-3825-FCA4-8E81-D79494218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964" y="692727"/>
            <a:ext cx="10760363" cy="5430982"/>
          </a:xfrm>
        </p:spPr>
      </p:pic>
    </p:spTree>
    <p:extLst>
      <p:ext uri="{BB962C8B-B14F-4D97-AF65-F5344CB8AC3E}">
        <p14:creationId xmlns:p14="http://schemas.microsoft.com/office/powerpoint/2010/main" val="610124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B586B-4E3E-030C-1D8C-ABD224CA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891" y="1"/>
            <a:ext cx="10314706" cy="563418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/>
              <a:t>Power BI Dashboard Screenshot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44F2B-BBEB-CED0-03C2-E73D23733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2549AA-8556-2EB3-44CE-DA6E009BE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1" y="563419"/>
            <a:ext cx="11028218" cy="571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57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4415A-C9CC-4103-B291-1C050E48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291" y="1"/>
            <a:ext cx="10416306" cy="452582"/>
          </a:xfrm>
        </p:spPr>
        <p:txBody>
          <a:bodyPr>
            <a:noAutofit/>
          </a:bodyPr>
          <a:lstStyle/>
          <a:p>
            <a:pPr algn="l"/>
            <a:r>
              <a:rPr lang="en-IN" sz="2800" b="1" dirty="0"/>
              <a:t>Tableau Dashboard Screenshot</a:t>
            </a:r>
          </a:p>
        </p:txBody>
      </p:sp>
      <p:pic>
        <p:nvPicPr>
          <p:cNvPr id="5" name="Content Placeholder 4" descr="A close-up of a graph">
            <a:extLst>
              <a:ext uri="{FF2B5EF4-FFF2-40B4-BE49-F238E27FC236}">
                <a16:creationId xmlns:a16="http://schemas.microsoft.com/office/drawing/2014/main" id="{FB4A0F4A-0045-B7EE-59E0-B5996C515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491" y="674255"/>
            <a:ext cx="10889673" cy="5514109"/>
          </a:xfrm>
        </p:spPr>
      </p:pic>
    </p:spTree>
    <p:extLst>
      <p:ext uri="{BB962C8B-B14F-4D97-AF65-F5344CB8AC3E}">
        <p14:creationId xmlns:p14="http://schemas.microsoft.com/office/powerpoint/2010/main" val="2984394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4415A-C9CC-4103-B291-1C050E48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383" y="21551"/>
            <a:ext cx="10266213" cy="477214"/>
          </a:xfrm>
        </p:spPr>
        <p:txBody>
          <a:bodyPr>
            <a:noAutofit/>
          </a:bodyPr>
          <a:lstStyle/>
          <a:p>
            <a:pPr algn="l"/>
            <a:r>
              <a:rPr lang="en-IN" sz="2800" b="1" dirty="0"/>
              <a:t>My SQL Queries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ED84D77F-C257-1A78-8E05-E89E952132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382" y="673245"/>
            <a:ext cx="2671155" cy="5561300"/>
          </a:xfrm>
        </p:spPr>
      </p:pic>
      <p:pic>
        <p:nvPicPr>
          <p:cNvPr id="7" name="Picture 6" descr="A screenshot of a computer program">
            <a:extLst>
              <a:ext uri="{FF2B5EF4-FFF2-40B4-BE49-F238E27FC236}">
                <a16:creationId xmlns:a16="http://schemas.microsoft.com/office/drawing/2014/main" id="{DF6AEAC3-3AEF-6A94-69DA-8C4E2EC95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538" y="673245"/>
            <a:ext cx="3247044" cy="5293446"/>
          </a:xfrm>
          <a:prstGeom prst="rect">
            <a:avLst/>
          </a:prstGeom>
        </p:spPr>
      </p:pic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03593DFB-083E-9BD1-0008-47F313133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582" y="673245"/>
            <a:ext cx="3934691" cy="504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02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4415A-C9CC-4103-B291-1C050E48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438" y="1"/>
            <a:ext cx="9601196" cy="452582"/>
          </a:xfrm>
        </p:spPr>
        <p:txBody>
          <a:bodyPr>
            <a:noAutofit/>
          </a:bodyPr>
          <a:lstStyle/>
          <a:p>
            <a:pPr algn="l"/>
            <a:r>
              <a:rPr lang="en-IN" sz="2800" b="1" dirty="0"/>
              <a:t>My SQL Queries KPI’s </a:t>
            </a:r>
          </a:p>
        </p:txBody>
      </p:sp>
      <p:pic>
        <p:nvPicPr>
          <p:cNvPr id="5" name="Content Placeholder 4" descr="A white background with text">
            <a:extLst>
              <a:ext uri="{FF2B5EF4-FFF2-40B4-BE49-F238E27FC236}">
                <a16:creationId xmlns:a16="http://schemas.microsoft.com/office/drawing/2014/main" id="{1E1B8FDA-F741-7CE7-FA69-0865ECB31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993" y="666520"/>
            <a:ext cx="7139940" cy="1668780"/>
          </a:xfr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F368B55-B47C-FCDD-276C-49CBDA430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93" y="2335300"/>
            <a:ext cx="4053840" cy="1859280"/>
          </a:xfrm>
          <a:prstGeom prst="rect">
            <a:avLst/>
          </a:prstGeom>
        </p:spPr>
      </p:pic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01F4B134-B064-F0EA-DF4D-381665C65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833" y="2335300"/>
            <a:ext cx="6545580" cy="3856180"/>
          </a:xfrm>
          <a:prstGeom prst="rect">
            <a:avLst/>
          </a:prstGeom>
        </p:spPr>
      </p:pic>
      <p:pic>
        <p:nvPicPr>
          <p:cNvPr id="11" name="Picture 10" descr="A white background with blue text">
            <a:extLst>
              <a:ext uri="{FF2B5EF4-FFF2-40B4-BE49-F238E27FC236}">
                <a16:creationId xmlns:a16="http://schemas.microsoft.com/office/drawing/2014/main" id="{F7D4D6B3-65FC-7B33-6502-45F13E8C4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93" y="4385310"/>
            <a:ext cx="4053840" cy="161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350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4415A-C9CC-4103-B291-1C050E48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3" y="0"/>
            <a:ext cx="9601196" cy="489527"/>
          </a:xfrm>
        </p:spPr>
        <p:txBody>
          <a:bodyPr>
            <a:noAutofit/>
          </a:bodyPr>
          <a:lstStyle/>
          <a:p>
            <a:pPr algn="l"/>
            <a:r>
              <a:rPr lang="en-IN" sz="2800" b="1" dirty="0"/>
              <a:t>My SQL Quires KPI’s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1AAE3CA4-37E2-A081-414F-CD82FD574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3" y="641927"/>
            <a:ext cx="4244340" cy="1828800"/>
          </a:xfrm>
        </p:spPr>
      </p:pic>
      <p:pic>
        <p:nvPicPr>
          <p:cNvPr id="7" name="Picture 6" descr="A computer screen shot of a program">
            <a:extLst>
              <a:ext uri="{FF2B5EF4-FFF2-40B4-BE49-F238E27FC236}">
                <a16:creationId xmlns:a16="http://schemas.microsoft.com/office/drawing/2014/main" id="{E7F0C21B-EE96-8514-1031-59ADE8AC2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143" y="641927"/>
            <a:ext cx="6362700" cy="5151120"/>
          </a:xfrm>
          <a:prstGeom prst="rect">
            <a:avLst/>
          </a:prstGeom>
        </p:spPr>
      </p:pic>
      <p:pic>
        <p:nvPicPr>
          <p:cNvPr id="10" name="Picture 9" descr="A computer code with text">
            <a:extLst>
              <a:ext uri="{FF2B5EF4-FFF2-40B4-BE49-F238E27FC236}">
                <a16:creationId xmlns:a16="http://schemas.microsoft.com/office/drawing/2014/main" id="{4D40E7BF-CD7E-F2A8-FDE4-A9231C148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3" y="3429000"/>
            <a:ext cx="4172524" cy="227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43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4415A-C9CC-4103-B291-1C050E48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3" y="0"/>
            <a:ext cx="9601196" cy="489527"/>
          </a:xfrm>
        </p:spPr>
        <p:txBody>
          <a:bodyPr>
            <a:noAutofit/>
          </a:bodyPr>
          <a:lstStyle/>
          <a:p>
            <a:pPr algn="l"/>
            <a:r>
              <a:rPr lang="en-IN" sz="2800" b="1" dirty="0"/>
              <a:t>My SQL Quires KPI’s</a:t>
            </a:r>
          </a:p>
        </p:txBody>
      </p:sp>
      <p:pic>
        <p:nvPicPr>
          <p:cNvPr id="5" name="Content Placeholder 4" descr="A screenshot of a computer program">
            <a:extLst>
              <a:ext uri="{FF2B5EF4-FFF2-40B4-BE49-F238E27FC236}">
                <a16:creationId xmlns:a16="http://schemas.microsoft.com/office/drawing/2014/main" id="{10F94088-5ED8-FEE9-10B6-5E08A9C35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3547" y="654772"/>
            <a:ext cx="6888015" cy="5256500"/>
          </a:xfrm>
        </p:spPr>
      </p:pic>
      <p:pic>
        <p:nvPicPr>
          <p:cNvPr id="11" name="Picture 10" descr="A screenshot of a computer program">
            <a:extLst>
              <a:ext uri="{FF2B5EF4-FFF2-40B4-BE49-F238E27FC236}">
                <a16:creationId xmlns:a16="http://schemas.microsoft.com/office/drawing/2014/main" id="{84BAC969-AC1D-9318-F407-6C24A4D88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3" y="654772"/>
            <a:ext cx="3844636" cy="311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63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017F2-01C3-0FAD-9579-7548D7A5C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82132"/>
            <a:ext cx="10286998" cy="1303867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Challenges faced and how we overcame them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8891C-7B6B-8616-D4A2-8E1AE3856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Challenge 1: Integrating Disparate Data 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Challenge 2: Identifying Trends in Uniform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Challenge 3: Visualizing Continuous Variables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847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B957-66D2-F2B5-B0C4-AF3F9BC5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61477-36FB-3618-8B11-CBE6FCCC0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Revamp Promotion Cycles</a:t>
            </a:r>
          </a:p>
          <a:p>
            <a:r>
              <a:rPr lang="en-US" dirty="0"/>
              <a:t>Focus on Culture Over Compensation</a:t>
            </a:r>
          </a:p>
          <a:p>
            <a:r>
              <a:rPr lang="en-US" dirty="0"/>
              <a:t>Elevate Work-Life Balance</a:t>
            </a:r>
          </a:p>
          <a:p>
            <a:r>
              <a:rPr lang="en-US" dirty="0"/>
              <a:t>Target R&amp;D Retention</a:t>
            </a:r>
          </a:p>
        </p:txBody>
      </p:sp>
    </p:spTree>
    <p:extLst>
      <p:ext uri="{BB962C8B-B14F-4D97-AF65-F5344CB8AC3E}">
        <p14:creationId xmlns:p14="http://schemas.microsoft.com/office/powerpoint/2010/main" val="2980484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E3B034F-5129-49FF-A8A7-478F1CC89A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3731574"/>
              </p:ext>
            </p:extLst>
          </p:nvPr>
        </p:nvGraphicFramePr>
        <p:xfrm>
          <a:off x="3163396" y="2194561"/>
          <a:ext cx="6135757" cy="2672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Graphic 7" descr="Handshake">
            <a:extLst>
              <a:ext uri="{FF2B5EF4-FFF2-40B4-BE49-F238E27FC236}">
                <a16:creationId xmlns:a16="http://schemas.microsoft.com/office/drawing/2014/main" id="{FC54E4D5-97CD-4C72-8F0E-0A2C0EE1D6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08557" y="4304712"/>
            <a:ext cx="2445434" cy="208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6313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1_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742</TotalTime>
  <Words>954</Words>
  <Application>Microsoft Office PowerPoint</Application>
  <PresentationFormat>Widescreen</PresentationFormat>
  <Paragraphs>109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Cooper Black</vt:lpstr>
      <vt:lpstr>Garamond</vt:lpstr>
      <vt:lpstr>Organic</vt:lpstr>
      <vt:lpstr>1_Organic</vt:lpstr>
      <vt:lpstr>HR ANALYTICS</vt:lpstr>
      <vt:lpstr>Team Members</vt:lpstr>
      <vt:lpstr>PowerPoint Presentation</vt:lpstr>
      <vt:lpstr>KPI-1  Average Attrition Rate For All Departments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Excel Dashboard Screenshot</vt:lpstr>
      <vt:lpstr>Power BI Dashboard Screenshot</vt:lpstr>
      <vt:lpstr>Tableau Dashboard Screenshot</vt:lpstr>
      <vt:lpstr>My SQL Queries</vt:lpstr>
      <vt:lpstr>My SQL Queries KPI’s </vt:lpstr>
      <vt:lpstr>My SQL Quires KPI’s</vt:lpstr>
      <vt:lpstr>My SQL Quires KPI’s</vt:lpstr>
      <vt:lpstr>Challenges faced and how we overcame them 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</dc:title>
  <dc:creator>Lenovo</dc:creator>
  <cp:lastModifiedBy>Narmadha RadhaKrishnan</cp:lastModifiedBy>
  <cp:revision>39</cp:revision>
  <dcterms:created xsi:type="dcterms:W3CDTF">2026-02-17T04:34:36Z</dcterms:created>
  <dcterms:modified xsi:type="dcterms:W3CDTF">2026-02-22T11:31:50Z</dcterms:modified>
</cp:coreProperties>
</file>